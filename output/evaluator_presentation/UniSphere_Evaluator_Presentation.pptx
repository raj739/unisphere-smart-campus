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ebc3caecf94cfc" /><Relationship Type="http://schemas.openxmlformats.org/officeDocument/2006/relationships/extended-properties" Target="/docProps/app.xml" Id="R12b55e2e272b40d7" /><Relationship Type="http://schemas.openxmlformats.org/officeDocument/2006/relationships/officeDocument" Target="/ppt/presentation.xml" Id="R42323a250cdf4745" /></Relationships>
</file>

<file path=ppt/presentation.xml><?xml version="1.0" encoding="utf-8"?>
<p:presentation xmlns:p="http://schemas.openxmlformats.org/presentationml/2006/main">
  <p:sldMasterIdLst>
    <p:sldMasterId xmlns:r="http://schemas.openxmlformats.org/officeDocument/2006/relationships" id="2147483648" r:id="R6a851f8e0b554d9a"/>
  </p:sldMasterIdLst>
  <p:notesMasterIdLst>
    <p:notesMasterId xmlns:r="http://schemas.openxmlformats.org/officeDocument/2006/relationships" r:id="R1cf1a689bbbd4977"/>
  </p:notesMasterIdLst>
  <p:sldIdLst>
    <p:sldId xmlns:r="http://schemas.openxmlformats.org/officeDocument/2006/relationships" id="256" r:id="Rdae04fc78a7c4d47"/>
    <p:sldId xmlns:r="http://schemas.openxmlformats.org/officeDocument/2006/relationships" id="257" r:id="R5a39b58a211a4538"/>
    <p:sldId xmlns:r="http://schemas.openxmlformats.org/officeDocument/2006/relationships" id="258" r:id="Rc1e660771f314e62"/>
    <p:sldId xmlns:r="http://schemas.openxmlformats.org/officeDocument/2006/relationships" id="259" r:id="R3b9ba4316edb4cc0"/>
    <p:sldId xmlns:r="http://schemas.openxmlformats.org/officeDocument/2006/relationships" id="260" r:id="R74aa81578781480d"/>
    <p:sldId xmlns:r="http://schemas.openxmlformats.org/officeDocument/2006/relationships" id="261" r:id="Rec4b710c841d4813"/>
    <p:sldId xmlns:r="http://schemas.openxmlformats.org/officeDocument/2006/relationships" id="262" r:id="Rbfb5a9dd0c5b442b"/>
    <p:sldId xmlns:r="http://schemas.openxmlformats.org/officeDocument/2006/relationships" id="263" r:id="R6fcf73efcba8477b"/>
    <p:sldId xmlns:r="http://schemas.openxmlformats.org/officeDocument/2006/relationships" id="264" r:id="R1f46a3a9bb10412c"/>
    <p:sldId xmlns:r="http://schemas.openxmlformats.org/officeDocument/2006/relationships" id="265" r:id="R6e2000ff151a45cd"/>
    <p:sldId xmlns:r="http://schemas.openxmlformats.org/officeDocument/2006/relationships" id="266" r:id="R0dc60d5effe54787"/>
    <p:sldId xmlns:r="http://schemas.openxmlformats.org/officeDocument/2006/relationships" id="267" r:id="R392dde3cc9264333"/>
    <p:sldId xmlns:r="http://schemas.openxmlformats.org/officeDocument/2006/relationships" id="268" r:id="R82430d47354a4ad9"/>
    <p:sldId xmlns:r="http://schemas.openxmlformats.org/officeDocument/2006/relationships" id="269" r:id="R9425e2fe10e1494c"/>
    <p:sldId xmlns:r="http://schemas.openxmlformats.org/officeDocument/2006/relationships" id="270" r:id="R05171c00acda4fb9"/>
    <p:sldId xmlns:r="http://schemas.openxmlformats.org/officeDocument/2006/relationships" id="271" r:id="Ra4f9eeb35fec467b"/>
    <p:sldId xmlns:r="http://schemas.openxmlformats.org/officeDocument/2006/relationships" id="272" r:id="R6793123f12864e15"/>
    <p:sldId xmlns:r="http://schemas.openxmlformats.org/officeDocument/2006/relationships" id="273" r:id="R50536eed0feb4e50"/>
    <p:sldId xmlns:r="http://schemas.openxmlformats.org/officeDocument/2006/relationships" id="274" r:id="Rb578390b15e74cbb"/>
    <p:sldId xmlns:r="http://schemas.openxmlformats.org/officeDocument/2006/relationships" id="275" r:id="R5c40b3909c894b94"/>
    <p:sldId xmlns:r="http://schemas.openxmlformats.org/officeDocument/2006/relationships" id="276" r:id="Rd4f89c4a37fe4985"/>
    <p:sldId xmlns:r="http://schemas.openxmlformats.org/officeDocument/2006/relationships" id="277" r:id="R81628fbe975f4568"/>
    <p:sldId xmlns:r="http://schemas.openxmlformats.org/officeDocument/2006/relationships" id="278" r:id="Rf1c85ef160a04a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6d29073dd74753" /><Relationship Type="http://schemas.openxmlformats.org/officeDocument/2006/relationships/slideMaster" Target="/ppt/slideMasters/slideMaster1.xml" Id="R6a851f8e0b554d9a" /><Relationship Type="http://schemas.openxmlformats.org/officeDocument/2006/relationships/notesMaster" Target="/ppt/notesMasters/notesMaster1.xml" Id="R1cf1a689bbbd4977" /><Relationship Type="http://schemas.openxmlformats.org/officeDocument/2006/relationships/presProps" Target="/ppt/presProps.xml" Id="R1eb729380db94dc3" /><Relationship Type="http://schemas.openxmlformats.org/officeDocument/2006/relationships/tableStyles" Target="/ppt/tableStyles.xml" Id="Rfb513ba19dfe4197" /><Relationship Type="http://schemas.openxmlformats.org/officeDocument/2006/relationships/slide" Target="/ppt/slides/slide1.xml" Id="Rdae04fc78a7c4d47" /><Relationship Type="http://schemas.openxmlformats.org/officeDocument/2006/relationships/slide" Target="/ppt/slides/slide2.xml" Id="R5a39b58a211a4538" /><Relationship Type="http://schemas.openxmlformats.org/officeDocument/2006/relationships/slide" Target="/ppt/slides/slide3.xml" Id="Rc1e660771f314e62" /><Relationship Type="http://schemas.openxmlformats.org/officeDocument/2006/relationships/slide" Target="/ppt/slides/slide4.xml" Id="R3b9ba4316edb4cc0" /><Relationship Type="http://schemas.openxmlformats.org/officeDocument/2006/relationships/slide" Target="/ppt/slides/slide5.xml" Id="R74aa81578781480d" /><Relationship Type="http://schemas.openxmlformats.org/officeDocument/2006/relationships/slide" Target="/ppt/slides/slide6.xml" Id="Rec4b710c841d4813" /><Relationship Type="http://schemas.openxmlformats.org/officeDocument/2006/relationships/slide" Target="/ppt/slides/slide7.xml" Id="Rbfb5a9dd0c5b442b" /><Relationship Type="http://schemas.openxmlformats.org/officeDocument/2006/relationships/slide" Target="/ppt/slides/slide8.xml" Id="R6fcf73efcba8477b" /><Relationship Type="http://schemas.openxmlformats.org/officeDocument/2006/relationships/slide" Target="/ppt/slides/slide9.xml" Id="R1f46a3a9bb10412c" /><Relationship Type="http://schemas.openxmlformats.org/officeDocument/2006/relationships/slide" Target="/ppt/slides/slide10.xml" Id="R6e2000ff151a45cd" /><Relationship Type="http://schemas.openxmlformats.org/officeDocument/2006/relationships/slide" Target="/ppt/slides/slide11.xml" Id="R0dc60d5effe54787" /><Relationship Type="http://schemas.openxmlformats.org/officeDocument/2006/relationships/slide" Target="/ppt/slides/slide12.xml" Id="R392dde3cc9264333" /><Relationship Type="http://schemas.openxmlformats.org/officeDocument/2006/relationships/slide" Target="/ppt/slides/slide13.xml" Id="R82430d47354a4ad9" /><Relationship Type="http://schemas.openxmlformats.org/officeDocument/2006/relationships/slide" Target="/ppt/slides/slide14.xml" Id="R9425e2fe10e1494c" /><Relationship Type="http://schemas.openxmlformats.org/officeDocument/2006/relationships/slide" Target="/ppt/slides/slide15.xml" Id="R05171c00acda4fb9" /><Relationship Type="http://schemas.openxmlformats.org/officeDocument/2006/relationships/slide" Target="/ppt/slides/slide16.xml" Id="Ra4f9eeb35fec467b" /><Relationship Type="http://schemas.openxmlformats.org/officeDocument/2006/relationships/slide" Target="/ppt/slides/slide17.xml" Id="R6793123f12864e15" /><Relationship Type="http://schemas.openxmlformats.org/officeDocument/2006/relationships/slide" Target="/ppt/slides/slide18.xml" Id="R50536eed0feb4e50" /><Relationship Type="http://schemas.openxmlformats.org/officeDocument/2006/relationships/slide" Target="/ppt/slides/slide19.xml" Id="Rb578390b15e74cbb" /><Relationship Type="http://schemas.openxmlformats.org/officeDocument/2006/relationships/slide" Target="/ppt/slides/slide20.xml" Id="R5c40b3909c894b94" /><Relationship Type="http://schemas.openxmlformats.org/officeDocument/2006/relationships/slide" Target="/ppt/slides/slide21.xml" Id="Rd4f89c4a37fe4985" /><Relationship Type="http://schemas.openxmlformats.org/officeDocument/2006/relationships/slide" Target="/ppt/slides/slide22.xml" Id="R81628fbe975f4568" /><Relationship Type="http://schemas.openxmlformats.org/officeDocument/2006/relationships/slide" Target="/ppt/slides/slide23.xml" Id="Rf1c85ef160a0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58404d3bcc4f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a04964d16741cb" /><Relationship Type="http://schemas.openxmlformats.org/officeDocument/2006/relationships/notesMaster" Target="/ppt/notesMasters/notesMaster1.xml" Id="R9fb8f5be587848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fae94e78d14784" /><Relationship Type="http://schemas.openxmlformats.org/officeDocument/2006/relationships/notesMaster" Target="/ppt/notesMasters/notesMaster1.xml" Id="Rca30e2c42f3642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06deeceb0d4f2d" /><Relationship Type="http://schemas.openxmlformats.org/officeDocument/2006/relationships/notesMaster" Target="/ppt/notesMasters/notesMaster1.xml" Id="R6b1040a9439648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25ad0d7c8144a2" /><Relationship Type="http://schemas.openxmlformats.org/officeDocument/2006/relationships/notesMaster" Target="/ppt/notesMasters/notesMaster1.xml" Id="R197d98f5f31049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cc5cc6a0334ef1" /><Relationship Type="http://schemas.openxmlformats.org/officeDocument/2006/relationships/notesMaster" Target="/ppt/notesMasters/notesMaster1.xml" Id="R8e57ebe0b8a44a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06fdd4e58b4f60" /><Relationship Type="http://schemas.openxmlformats.org/officeDocument/2006/relationships/notesMaster" Target="/ppt/notesMasters/notesMaster1.xml" Id="Re2dadd85c12041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a8e1cde8584a0c" /><Relationship Type="http://schemas.openxmlformats.org/officeDocument/2006/relationships/notesMaster" Target="/ppt/notesMasters/notesMaster1.xml" Id="R0061f3d515074e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2ec2dbd4f44596" /><Relationship Type="http://schemas.openxmlformats.org/officeDocument/2006/relationships/notesMaster" Target="/ppt/notesMasters/notesMaster1.xml" Id="R4038a68365c844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ae2ae77d8940d0" /><Relationship Type="http://schemas.openxmlformats.org/officeDocument/2006/relationships/notesMaster" Target="/ppt/notesMasters/notesMaster1.xml" Id="R49bbd6652eed40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63605ed39f4d6f" /><Relationship Type="http://schemas.openxmlformats.org/officeDocument/2006/relationships/notesMaster" Target="/ppt/notesMasters/notesMaster1.xml" Id="R705279ad8e0547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ca0782a956474f" /><Relationship Type="http://schemas.openxmlformats.org/officeDocument/2006/relationships/notesMaster" Target="/ppt/notesMasters/notesMaster1.xml" Id="R8969883c253a4f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5503d8f0b643df" /><Relationship Type="http://schemas.openxmlformats.org/officeDocument/2006/relationships/notesMaster" Target="/ppt/notesMasters/notesMaster1.xml" Id="Rf57ace0b42fc42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d87e1eca5041b5" /><Relationship Type="http://schemas.openxmlformats.org/officeDocument/2006/relationships/notesMaster" Target="/ppt/notesMasters/notesMaster1.xml" Id="R6315f7534e104d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34bfc0179a40d0" /><Relationship Type="http://schemas.openxmlformats.org/officeDocument/2006/relationships/notesMaster" Target="/ppt/notesMasters/notesMaster1.xml" Id="Rd001918e945447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b609f577a447e6" /><Relationship Type="http://schemas.openxmlformats.org/officeDocument/2006/relationships/notesMaster" Target="/ppt/notesMasters/notesMaster1.xml" Id="R49737227b6a546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5f36e77599450e" /><Relationship Type="http://schemas.openxmlformats.org/officeDocument/2006/relationships/notesMaster" Target="/ppt/notesMasters/notesMaster1.xml" Id="Rf64207a556a143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b4842a79bb4e56" /><Relationship Type="http://schemas.openxmlformats.org/officeDocument/2006/relationships/notesMaster" Target="/ppt/notesMasters/notesMaster1.xml" Id="R7bed9f15b2ca45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8af0d15a9042dd" /><Relationship Type="http://schemas.openxmlformats.org/officeDocument/2006/relationships/notesMaster" Target="/ppt/notesMasters/notesMaster1.xml" Id="R11e393926ed04d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7cad98f7304936" /><Relationship Type="http://schemas.openxmlformats.org/officeDocument/2006/relationships/notesMaster" Target="/ppt/notesMasters/notesMaster1.xml" Id="R8c65896e299c41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c713f564254c91" /><Relationship Type="http://schemas.openxmlformats.org/officeDocument/2006/relationships/notesMaster" Target="/ppt/notesMasters/notesMaster1.xml" Id="Rbb4208273dbd48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7fd330032f418d" /><Relationship Type="http://schemas.openxmlformats.org/officeDocument/2006/relationships/notesMaster" Target="/ppt/notesMasters/notesMaster1.xml" Id="R99a47e45695443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87176712dc4e5b" /><Relationship Type="http://schemas.openxmlformats.org/officeDocument/2006/relationships/notesMaster" Target="/ppt/notesMasters/notesMaster1.xml" Id="R93af74d5a00e4c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ed1b5fbd544fa5" /><Relationship Type="http://schemas.openxmlformats.org/officeDocument/2006/relationships/notesMaster" Target="/ppt/notesMasters/notesMaster1.xml" Id="Rd32ebed29e5f41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UniSphere is a unified campus platform connecting administration, students and linked parents. This presentation shows a working Windows prototype and its operating workflows. The cover is a concept illustration, not a photograph of the university.</a:t>
            </a:r>
          </a:p>
          <a:p xmlns:a="http://schemas.openxmlformats.org/drawingml/2006/main">
            <a:r>
              <a:t/>
            </a:r>
          </a:p>
          <a:p xmlns:a="http://schemas.openxmlformats.org/drawingml/2006/main">
            <a:r>
              <a:t>Evidence: EXECUTIVE_SUMMARY.md; assets/submission/unisphere-campus-cover.png.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not just putting forms online. It is connecting ownership, status and authenticated records across the student lifecycle. These are the problem-statement assumptions, not findings from a quantified campus survey.</a:t>
            </a:r>
          </a:p>
          <a:p xmlns:a="http://schemas.openxmlformats.org/drawingml/2006/main">
            <a:r>
              <a:t/>
            </a:r>
          </a:p>
          <a:p xmlns:a="http://schemas.openxmlformats.org/drawingml/2006/main">
            <a:r>
              <a:t>Evidence: User-supplied Smart University Digital Campus problem statement.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portals use a shared backend. A student is resolved from the authenticated user, rather than a hardcoded demo name. Parent access depends on an active parent-student link. Record updates appear when the view loads or refreshes; do not claim that every view is automatically pushed in real time.</a:t>
            </a:r>
          </a:p>
          <a:p xmlns:a="http://schemas.openxmlformats.org/drawingml/2006/main">
            <a:r>
              <a:t/>
            </a:r>
          </a:p>
          <a:p xmlns:a="http://schemas.openxmlformats.org/drawingml/2006/main">
            <a:r>
              <a:t>Evidence: lib/features/admin/admin_shell.dart; lib/services/auth_service.dart; backend/app/api/v1/parent_v2.py.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account is not automatically a complete student record. Administrators first configure master data and then provision an academic plan. Service allocations and parent registration are explicit operations. The demo curriculum may provision sample timetable, fee invoice and examination records; it is not an official syllabus.</a:t>
            </a:r>
          </a:p>
          <a:p xmlns:a="http://schemas.openxmlformats.org/drawingml/2006/main">
            <a:r>
              <a:t/>
            </a:r>
          </a:p>
          <a:p xmlns:a="http://schemas.openxmlformats.org/drawingml/2006/main">
            <a:r>
              <a:t>Evidence: lib/features/admin/admin_academic_plans_screen.dart; EXECUTIVE_SUMMARY.md.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dashboard counts are calculated from configured records. The screenshot contains a small demonstration cohort and imported catalogue data; the counts are not proof of deployment scale. The catalogue includes demo curriculum papers.</a:t>
            </a:r>
          </a:p>
          <a:p xmlns:a="http://schemas.openxmlformats.org/drawingml/2006/main">
            <a:r>
              <a:t/>
            </a:r>
          </a:p>
          <a:p xmlns:a="http://schemas.openxmlformats.org/drawingml/2006/main">
            <a:r>
              <a:t>Evidence: lib/features/admin/admin_dashboard_screen.dart.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Raj selected in the register. The programme, specialization, curriculum, session and semester are connected. Optional provisioning covers courses, standard timetable, fee invoice and demo examination plan. The visible demo-curriculum warning is an important disclosure.</a:t>
            </a:r>
          </a:p>
          <a:p xmlns:a="http://schemas.openxmlformats.org/drawingml/2006/main">
            <a:r>
              <a:t/>
            </a:r>
          </a:p>
          <a:p xmlns:a="http://schemas.openxmlformats.org/drawingml/2006/main">
            <a:r>
              <a:t>Evidence: lib/features/admin/admin_academic_plans_screen.dart.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a locked session and Raj in its roster. Recording is controlled by administrators in the current prototype. Attendance contributes to student visibility and risk signals. Aggregate metric consistency across views remains an acceptance-test item; do not describe any screenshot percentage as an audited institutional KPI.</a:t>
            </a:r>
          </a:p>
          <a:p xmlns:a="http://schemas.openxmlformats.org/drawingml/2006/main">
            <a:r>
              <a:t/>
            </a:r>
          </a:p>
          <a:p xmlns:a="http://schemas.openxmlformats.org/drawingml/2006/main">
            <a:r>
              <a:t>Evidence: lib/features/admin/admin_attendance_screen.dart.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examination window and five-paper schedule. Explain the registration/approval workflow and publication of results against students and courses. The visible plan is explicitly a demonstration schedule.</a:t>
            </a:r>
          </a:p>
          <a:p xmlns:a="http://schemas.openxmlformats.org/drawingml/2006/main">
            <a:r>
              <a:t/>
            </a:r>
          </a:p>
          <a:p xmlns:a="http://schemas.openxmlformats.org/drawingml/2006/main">
            <a:r>
              <a:t>Evidence: lib/features/admin/admin_examinations_screen.dart.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Raj is the logged-in student, with programme and semester in the header. The dashboard links to academics, attendance, results, exams, success, AI, passport and services. Demo percentages are illustrative records, not measured impact; the dashboard and risk pages currently expose different attendance aggregation scopes, requiring reconciliation before a production pilot.</a:t>
            </a:r>
          </a:p>
          <a:p xmlns:a="http://schemas.openxmlformats.org/drawingml/2006/main">
            <a:r>
              <a:t/>
            </a:r>
          </a:p>
          <a:p xmlns:a="http://schemas.openxmlformats.org/drawingml/2006/main">
            <a:r>
              <a:t>Evidence: lib/features/dashboard/dashboard_screen.dart; lib/app/app_shell.dart.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two authentic views of Raj's existing allocation to Shaligram, room A1. Occupancy is one of two beds. Admin sees the available bed; Raj sees his building, room, allocation number and residence status. Complaints have a separate request workflow. No new allocation was created for the deck.</a:t>
            </a:r>
          </a:p>
          <a:p xmlns:a="http://schemas.openxmlformats.org/drawingml/2006/main">
            <a:r>
              <a:t/>
            </a:r>
          </a:p>
          <a:p xmlns:a="http://schemas.openxmlformats.org/drawingml/2006/main">
            <a:r>
              <a:t>Evidence: lib/features/admin/admin_hostel_screen.dart; lib/features/hostel/hostel_screen.dart.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sees the route, vehicle, seat position and passengers. Raj sees the linked route, stop, pass and vehicle and can report an issue. The current demonstration record has no pickup time or driver configured: the UI explicitly shows missing values instead of inventing information. GPS tracking is not an implemented claim.</a:t>
            </a:r>
          </a:p>
          <a:p xmlns:a="http://schemas.openxmlformats.org/drawingml/2006/main">
            <a:r>
              <a:t/>
            </a:r>
          </a:p>
          <a:p xmlns:a="http://schemas.openxmlformats.org/drawingml/2006/main">
            <a:r>
              <a:t>Evidence: lib/features/admin/admin_transport_screen.dart; lib/features/transport/transport_screen.dart.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issued requests belonging to Raj and Aarav. Describe purpose, approval/rejection, certificate number, PDF, QR verification and revocation. Focus on service certificates such as bonafide, residence and no-dues. No blockchain, DigiLocker or government identity integration is claimed. The loopback verification URL needs a public deployment URL before institutional use.</a:t>
            </a:r>
          </a:p>
          <a:p xmlns:a="http://schemas.openxmlformats.org/drawingml/2006/main">
            <a:r>
              <a:t/>
            </a:r>
          </a:p>
          <a:p xmlns:a="http://schemas.openxmlformats.org/drawingml/2006/main">
            <a:r>
              <a:t>Evidence: lib/features/admin/admin_certificates_screen.dart; backend/app/api/v1/certificates.py.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administrator registers a parent with name, contact, password, relationship and selected student. An additional student may be linked to an existing parent. Registering a student does not silently create a parent account. Credential delivery by verified email/SMS is a future integration.</a:t>
            </a:r>
          </a:p>
          <a:p xmlns:a="http://schemas.openxmlformats.org/drawingml/2006/main">
            <a:r>
              <a:t/>
            </a:r>
          </a:p>
          <a:p xmlns:a="http://schemas.openxmlformats.org/drawingml/2006/main">
            <a:r>
              <a:t>Evidence: lib/features/admin/admin_parents_screen.dart; backend/app/api/v1/parent_v2.py.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parent experience uses live V2 profile, student-link and dashboard APIs. The demonstration parent is linked to Aarav; Raj has a separate parent relationship. This slide describes the implemented workflow from source code; it is not a screenshot of the parent portal. Results detail, hostel and transport are not claimed as parent features.</a:t>
            </a:r>
          </a:p>
          <a:p xmlns:a="http://schemas.openxmlformats.org/drawingml/2006/main">
            <a:r>
              <a:t/>
            </a:r>
          </a:p>
          <a:p xmlns:a="http://schemas.openxmlformats.org/drawingml/2006/main">
            <a:r>
              <a:t>Evidence: lib/features/parent/parent_portal_screen.dart; backend/app/api/v1/parent_v2.py.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answer routing: authenticated personal records first, approved campus knowledge, curated general facts and Gemini for open-ended general questions. The screen demonstrates a grounded answer and recommendations; it is not a screenshot of model training. Direct student-context payloads are excluded from Gemini requests, but conversation history requires privacy review/redaction before production. Additional Indian-language and Bhashini integrations remain future work.</a:t>
            </a:r>
          </a:p>
          <a:p xmlns:a="http://schemas.openxmlformats.org/drawingml/2006/main">
            <a:r>
              <a:t/>
            </a:r>
          </a:p>
          <a:p xmlns:a="http://schemas.openxmlformats.org/drawingml/2006/main">
            <a:r>
              <a:t>Evidence: backend/app/api/v1/ai_v2.py; backend/app/services/ai_prompt_service.py; lib/features/ai/ai_screen.dart.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RiskEngine uses explicit weighted rules. High &gt;=70; medium &gt;=40; low &lt;40. Missing evidence can produce an insufficient-data state. The UI's dropout-likelihood value currently mirrors the risk score: it is NOT a calibrated probability, a trained dropout model or a measured accuracy result. Human review is required; no punitive automated decisions are proposed.</a:t>
            </a:r>
          </a:p>
          <a:p xmlns:a="http://schemas.openxmlformats.org/drawingml/2006/main">
            <a:r>
              <a:t/>
            </a:r>
          </a:p>
          <a:p xmlns:a="http://schemas.openxmlformats.org/drawingml/2006/main">
            <a:r>
              <a:t>Evidence: backend/app/services/risk_engine.py; backend/app/api/v1/risk.py; lib/features/admin/risk_analytics_screen.dart.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existing warnings and a case already in intervention. Staff can decide whether support is needed, document the intervention and track status. Creating a warning is not the same as proving a student will drop out. Outcome measurements and false-positive review belong in the pilot.</a:t>
            </a:r>
          </a:p>
          <a:p xmlns:a="http://schemas.openxmlformats.org/drawingml/2006/main">
            <a:r>
              <a:t/>
            </a:r>
          </a:p>
          <a:p xmlns:a="http://schemas.openxmlformats.org/drawingml/2006/main">
            <a:r>
              <a:t>Evidence: lib/features/admin/admin_early_warning_screen.dart; lib/features/admin/intervention_screen.dart.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design differentiators in this implementation, not world-first inventions. The strongest example is a named student whose academic plan, allocations, assistant and support workflow share the same identity. General language assistance and deterministic institutional records are intentionally different responsibilities.</a:t>
            </a:r>
          </a:p>
          <a:p xmlns:a="http://schemas.openxmlformats.org/drawingml/2006/main">
            <a:r>
              <a:t/>
            </a:r>
          </a:p>
          <a:p xmlns:a="http://schemas.openxmlformats.org/drawingml/2006/main">
            <a:r>
              <a:t>Evidence: EXECUTIVE_SUMMARY.md; backend/app/api/v1/ai_v2.py; backend/app/services/risk_engine.py.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top to bottom as request and ownership layers. API keys stay on the backend, not in the Flutter client or slides. PostgreSQL is the deployment configuration, whereas the screenshot instance uses SQLite. A Flutter codebase targets mobile/web, but this deck evidences Windows only; device acceptance testing remains. Production controls require explicit testing, not inference from framework choice.</a:t>
            </a:r>
          </a:p>
          <a:p xmlns:a="http://schemas.openxmlformats.org/drawingml/2006/main">
            <a:r>
              <a:t/>
            </a:r>
          </a:p>
          <a:p xmlns:a="http://schemas.openxmlformats.org/drawingml/2006/main">
            <a:r>
              <a:t>Evidence: backend/app/main.py; backend/app/core; backend/docker-compose.production.yml; pubspec.yaml.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a baseline before a limited institutional pilot, then compare the same tasks after adoption. Record both successful completions and errors. Do not claim percentage reductions, prediction accuracy, student satisfaction or government compliance without data. Alignment is with Digital Campus, Ease of Governance, Smart Universities and Viksit Bharat; this is not an official endorsement.</a:t>
            </a:r>
          </a:p>
          <a:p xmlns:a="http://schemas.openxmlformats.org/drawingml/2006/main">
            <a:r>
              <a:t/>
            </a:r>
          </a:p>
          <a:p xmlns:a="http://schemas.openxmlformats.org/drawingml/2006/main">
            <a:r>
              <a:t>Evidence: User-supplied expected outcome and strategic alignment; EXECUTIVE_SUMMARY.md.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Unavailable admin modules include grievance, dedicated voice administration, admin passport, secure sharing, permission configuration, audit-log UI, realtime administration and settings. Backend foundations do not establish full UI support. Existing fee invoices and recorded payments are not evidence of live gateway settlement. Campus records shown are demonstration data. Audit aggregate consistency, refresh behavior, authorization, AI history handling, public certificate URLs and operational recovery before pilot approval.</a:t>
            </a:r>
          </a:p>
          <a:p xmlns:a="http://schemas.openxmlformats.org/drawingml/2006/main">
            <a:r>
              <a:t/>
            </a:r>
          </a:p>
          <a:p xmlns:a="http://schemas.openxmlformats.org/drawingml/2006/main">
            <a:r>
              <a:t>Evidence: lib/features/admin/admin_shell.dart; EXECUTIVE_SUMMARY.md; captured demo screens.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existing demo records. Avoid creating duplicate students or allocating a second room during the presentation. Load each screen once before the session and confirm the backend/provider are available. If a model call fails, explain fallback behavior and use the captured UI as evidence rather than asserting an external result. All demo credentials should remain private. Allow 6-8 minutes for this route and keep the technical material for Q&amp;A.</a:t>
            </a:r>
          </a:p>
          <a:p xmlns:a="http://schemas.openxmlformats.org/drawingml/2006/main">
            <a:r>
              <a:t/>
            </a:r>
          </a:p>
          <a:p xmlns:a="http://schemas.openxmlformats.org/drawingml/2006/main">
            <a:r>
              <a:t>Evidence: Captured Windows prototype screens; EXECUTIVE_SUMMARY.md.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connected journey, not a feature count. Invite evaluation against the actual screenshot workflows and the live demo. The strongest evidence is the same Raj identity visible in academic planning, attendance, exams, residence, transport and student assistance. State the limitations clearly and request a controlled pilot, not an unrestricted production rollout.</a:t>
            </a:r>
          </a:p>
          <a:p xmlns:a="http://schemas.openxmlformats.org/drawingml/2006/main">
            <a:r>
              <a:t/>
            </a:r>
          </a:p>
          <a:p xmlns:a="http://schemas.openxmlformats.org/drawingml/2006/main">
            <a:r>
              <a:t>Evidence: EXECUTIVE_SUMMARY.md; captured Windows prototype screens. App screenshots captured from the local Windows prototype on 1 October 2026; demo records, not production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b550af2f1c49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bb497de2de4bd3" /><Relationship Type="http://schemas.openxmlformats.org/officeDocument/2006/relationships/slideLayout" Target="/ppt/slideLayouts/slideLayout1.xml" Id="R491625701aa642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625701aa642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53c447d8864748" /><Relationship Type="http://schemas.openxmlformats.org/officeDocument/2006/relationships/image" Target="/ppt/media/image.png" Id="R12208e9e8b214bd5" /><Relationship Type="http://schemas.openxmlformats.org/officeDocument/2006/relationships/notesSlide" Target="/ppt/notesSlides/notesSlide1.xml" Id="Rc0e86e04534e4e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abefa6a27642e1" /><Relationship Type="http://schemas.openxmlformats.org/officeDocument/2006/relationships/notesSlide" Target="/ppt/notesSlides/notesSlide2.xml" Id="R8e9bb7f35d1c4d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8c5d29ec204815" /><Relationship Type="http://schemas.openxmlformats.org/officeDocument/2006/relationships/notesSlide" Target="/ppt/notesSlides/notesSlide3.xml" Id="R4768ba948ea349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5012cb784a4c97" /><Relationship Type="http://schemas.openxmlformats.org/officeDocument/2006/relationships/notesSlide" Target="/ppt/notesSlides/notesSlide4.xml" Id="R9afabeab3e6447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1424dea9d64eaf" /><Relationship Type="http://schemas.openxmlformats.org/officeDocument/2006/relationships/image" Target="/ppt/media/image.jpeg" Id="Rf9dc9a792dd0420e" /><Relationship Type="http://schemas.openxmlformats.org/officeDocument/2006/relationships/notesSlide" Target="/ppt/notesSlides/notesSlide5.xml" Id="R35d0e031005d4d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e7dad4c219423a" /><Relationship Type="http://schemas.openxmlformats.org/officeDocument/2006/relationships/image" Target="/ppt/media/image2.jpeg" Id="R87a6071b0e5d4e14" /><Relationship Type="http://schemas.openxmlformats.org/officeDocument/2006/relationships/notesSlide" Target="/ppt/notesSlides/notesSlide6.xml" Id="R8f665ea20e4846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358f7176c143a8" /><Relationship Type="http://schemas.openxmlformats.org/officeDocument/2006/relationships/image" Target="/ppt/media/image3.jpeg" Id="R44566fe4443c41cc" /><Relationship Type="http://schemas.openxmlformats.org/officeDocument/2006/relationships/notesSlide" Target="/ppt/notesSlides/notesSlide7.xml" Id="Rd67c78d3c1864e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7b1caa45b346b9" /><Relationship Type="http://schemas.openxmlformats.org/officeDocument/2006/relationships/image" Target="/ppt/media/image4.jpeg" Id="Rf8d87a452e1b4809" /><Relationship Type="http://schemas.openxmlformats.org/officeDocument/2006/relationships/notesSlide" Target="/ppt/notesSlides/notesSlide8.xml" Id="Rff7b2ab41a4c4b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77405f731e4bc0" /><Relationship Type="http://schemas.openxmlformats.org/officeDocument/2006/relationships/image" Target="/ppt/media/image5.jpeg" Id="R11d1e26f73f14109" /><Relationship Type="http://schemas.openxmlformats.org/officeDocument/2006/relationships/notesSlide" Target="/ppt/notesSlides/notesSlide9.xml" Id="R043ff7acd89347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acebd309ea43b9" /><Relationship Type="http://schemas.openxmlformats.org/officeDocument/2006/relationships/image" Target="/ppt/media/image6.jpeg" Id="Rb855815228094715" /><Relationship Type="http://schemas.openxmlformats.org/officeDocument/2006/relationships/image" Target="/ppt/media/image7.jpeg" Id="R83687bf25f954473" /><Relationship Type="http://schemas.openxmlformats.org/officeDocument/2006/relationships/notesSlide" Target="/ppt/notesSlides/notesSlide10.xml" Id="R182aaf300b7641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2daeca5cad4b3f" /><Relationship Type="http://schemas.openxmlformats.org/officeDocument/2006/relationships/image" Target="/ppt/media/image8.jpeg" Id="R555d239da0474666" /><Relationship Type="http://schemas.openxmlformats.org/officeDocument/2006/relationships/image" Target="/ppt/media/image9.jpeg" Id="R01e2293c5c8849b6" /><Relationship Type="http://schemas.openxmlformats.org/officeDocument/2006/relationships/notesSlide" Target="/ppt/notesSlides/notesSlide11.xml" Id="Re4fab1cc85ed40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2b3068379e46ad" /><Relationship Type="http://schemas.openxmlformats.org/officeDocument/2006/relationships/image" Target="/ppt/media/image10.jpeg" Id="Rb383820e2c084fb7" /><Relationship Type="http://schemas.openxmlformats.org/officeDocument/2006/relationships/notesSlide" Target="/ppt/notesSlides/notesSlide12.xml" Id="Re2a2504af83846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2a0866353b431a" /><Relationship Type="http://schemas.openxmlformats.org/officeDocument/2006/relationships/image" Target="/ppt/media/image11.jpeg" Id="Rd8e2b3290efb4622" /><Relationship Type="http://schemas.openxmlformats.org/officeDocument/2006/relationships/notesSlide" Target="/ppt/notesSlides/notesSlide13.xml" Id="Rb73422de5a8943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43429e65c14737" /><Relationship Type="http://schemas.openxmlformats.org/officeDocument/2006/relationships/notesSlide" Target="/ppt/notesSlides/notesSlide14.xml" Id="Rdc9e0fcd42bc4c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94c6734622472d" /><Relationship Type="http://schemas.openxmlformats.org/officeDocument/2006/relationships/image" Target="/ppt/media/image12.jpeg" Id="R5bc1656f8fe248fb" /><Relationship Type="http://schemas.openxmlformats.org/officeDocument/2006/relationships/notesSlide" Target="/ppt/notesSlides/notesSlide15.xml" Id="R88aadf367e1141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f67e184adc246fc" /><Relationship Type="http://schemas.openxmlformats.org/officeDocument/2006/relationships/image" Target="/ppt/media/image13.jpeg" Id="R5f366c59deb14686" /><Relationship Type="http://schemas.openxmlformats.org/officeDocument/2006/relationships/notesSlide" Target="/ppt/notesSlides/notesSlide16.xml" Id="R2b83861acd5b49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a788a7026743a6" /><Relationship Type="http://schemas.openxmlformats.org/officeDocument/2006/relationships/image" Target="/ppt/media/image14.jpeg" Id="R74275b989fe0475e" /><Relationship Type="http://schemas.openxmlformats.org/officeDocument/2006/relationships/notesSlide" Target="/ppt/notesSlides/notesSlide17.xml" Id="Re99c8e9ccd2f4b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07a3281a4f349dd" /><Relationship Type="http://schemas.openxmlformats.org/officeDocument/2006/relationships/notesSlide" Target="/ppt/notesSlides/notesSlide18.xml" Id="R032cfe88b2f049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88f415a5617468e" /><Relationship Type="http://schemas.openxmlformats.org/officeDocument/2006/relationships/notesSlide" Target="/ppt/notesSlides/notesSlide19.xml" Id="R5d56131d192146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aaf93624cec40a4" /><Relationship Type="http://schemas.openxmlformats.org/officeDocument/2006/relationships/notesSlide" Target="/ppt/notesSlides/notesSlide20.xml" Id="R97ed17fa885d49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3e53d8df5b24c0e" /><Relationship Type="http://schemas.openxmlformats.org/officeDocument/2006/relationships/notesSlide" Target="/ppt/notesSlides/notesSlide21.xml" Id="R7ad968e788be460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0748b36c7774996" /><Relationship Type="http://schemas.openxmlformats.org/officeDocument/2006/relationships/notesSlide" Target="/ppt/notesSlides/notesSlide22.xml" Id="Rdd6fdf7762634f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a4eee5601004d95" /><Relationship Type="http://schemas.openxmlformats.org/officeDocument/2006/relationships/notesSlide" Target="/ppt/notesSlides/notesSlide23.xml" Id="Rd1b1462ed63e4dc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2208e9e8b214bd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B9C4A7-C8FB-4E49-9CC6-3B51F07807F2}"/>
              </a:ext>
            </a:extLst>
          </p:cNvPr>
          <p:cNvSpPr>
            <a:spLocks xmlns:a="http://schemas.openxmlformats.org/drawingml/2006/main" noGrp="1"/>
          </p:cNvSpPr>
          <p:nvPr/>
        </p:nvSpPr>
        <p:spPr>
          <a:xfrm xmlns:a="http://schemas.openxmlformats.org/drawingml/2006/main">
            <a:off x="590550" y="1019175"/>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a:solidFill>
                  <a:srgbClr val="17233B"/>
                </a:solidFill>
                <a:latin typeface="Arial"/>
                <a:ea typeface="Arial"/>
                <a:cs typeface="Arial"/>
              </a:defRPr>
            </a:pPr>
            <a:r>
              <a:rPr sz="5700" b="1">
                <a:solidFill>
                  <a:srgbClr val="17233B"/>
                </a:solidFill>
                <a:latin typeface="Arial"/>
                <a:ea typeface="Arial"/>
                <a:cs typeface="Arial"/>
              </a:rPr>
              <a:t>UniSphere</a:t>
            </a:r>
          </a:p>
        </p:txBody>
      </p:sp>
      <p:sp>
        <p:nvSpPr>
          <p:cNvPr id="3" name="">
            <a:extLst xmlns:a="http://schemas.openxmlformats.org/drawingml/2006/main">
              <a:ext uri="{FF2B5EF4-FFF2-40B4-BE49-F238E27FC236}">
                <a16:creationId xmlns:a16="http://schemas.microsoft.com/office/drawing/2014/main" id="{E39E88AB-D7C7-43E6-9A5A-092DDFA111EF}"/>
              </a:ext>
            </a:extLst>
          </p:cNvPr>
          <p:cNvSpPr>
            <a:spLocks xmlns:a="http://schemas.openxmlformats.org/drawingml/2006/main" noGrp="1"/>
          </p:cNvSpPr>
          <p:nvPr/>
        </p:nvSpPr>
        <p:spPr>
          <a:xfrm xmlns:a="http://schemas.openxmlformats.org/drawingml/2006/main">
            <a:off x="628650" y="2143125"/>
            <a:ext cx="5381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7233B"/>
                </a:solidFill>
                <a:latin typeface="Arial"/>
                <a:ea typeface="Arial"/>
                <a:cs typeface="Arial"/>
              </a:defRPr>
            </a:pPr>
            <a:r>
              <a:rPr sz="3225" b="1">
                <a:solidFill>
                  <a:srgbClr val="17233B"/>
                </a:solidFill>
                <a:latin typeface="Arial"/>
                <a:ea typeface="Arial"/>
                <a:cs typeface="Arial"/>
              </a:rPr>
              <a:t>Smart University</a:t>
            </a:r>
          </a:p>
          <a:p xmlns:a="http://schemas.openxmlformats.org/drawingml/2006/main">
            <a:pPr>
              <a:defRPr sz="3225" b="1">
                <a:solidFill>
                  <a:srgbClr val="17233B"/>
                </a:solidFill>
                <a:latin typeface="Arial"/>
                <a:ea typeface="Arial"/>
                <a:cs typeface="Arial"/>
              </a:defRPr>
            </a:pPr>
            <a:r>
              <a:rPr sz="3225" b="1">
                <a:solidFill>
                  <a:srgbClr val="17233B"/>
                </a:solidFill>
                <a:latin typeface="Arial"/>
                <a:ea typeface="Arial"/>
                <a:cs typeface="Arial"/>
              </a:rPr>
              <a:t>Digital Campus</a:t>
            </a:r>
          </a:p>
        </p:txBody>
      </p:sp>
      <p:sp>
        <p:nvSpPr>
          <p:cNvPr id="4" name="">
            <a:extLst xmlns:a="http://schemas.openxmlformats.org/drawingml/2006/main">
              <a:ext uri="{FF2B5EF4-FFF2-40B4-BE49-F238E27FC236}">
                <a16:creationId xmlns:a16="http://schemas.microsoft.com/office/drawing/2014/main" id="{31EA61BD-A465-4962-9867-0DDCE71309BD}"/>
              </a:ext>
            </a:extLst>
          </p:cNvPr>
          <p:cNvSpPr>
            <a:spLocks xmlns:a="http://schemas.openxmlformats.org/drawingml/2006/main" noGrp="1"/>
          </p:cNvSpPr>
          <p:nvPr/>
        </p:nvSpPr>
        <p:spPr>
          <a:xfrm xmlns:a="http://schemas.openxmlformats.org/drawingml/2006/main">
            <a:off x="628650" y="38004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33B"/>
                </a:solidFill>
                <a:latin typeface="Arial"/>
                <a:ea typeface="Arial"/>
                <a:cs typeface="Arial"/>
              </a:defRPr>
            </a:pPr>
            <a:r>
              <a:rPr sz="2025" b="0">
                <a:solidFill>
                  <a:srgbClr val="17233B"/>
                </a:solidFill>
                <a:latin typeface="Arial"/>
                <a:ea typeface="Arial"/>
                <a:cs typeface="Arial"/>
              </a:rPr>
              <a:t>Solution presentation</a:t>
            </a:r>
          </a:p>
          <a:p xmlns:a="http://schemas.openxmlformats.org/drawingml/2006/main">
            <a:pPr>
              <a:defRPr sz="2025" b="0">
                <a:solidFill>
                  <a:srgbClr val="17233B"/>
                </a:solidFill>
                <a:latin typeface="Arial"/>
                <a:ea typeface="Arial"/>
                <a:cs typeface="Arial"/>
              </a:defRPr>
            </a:pPr>
            <a:r>
              <a:rPr sz="2025" b="0">
                <a:solidFill>
                  <a:srgbClr val="17233B"/>
                </a:solidFill>
                <a:latin typeface="Arial"/>
                <a:ea typeface="Arial"/>
                <a:cs typeface="Arial"/>
              </a:rPr>
              <a:t>Concept, approach, innovation and prototype evidence</a:t>
            </a:r>
          </a:p>
        </p:txBody>
      </p:sp>
      <p:sp>
        <p:nvSpPr>
          <p:cNvPr id="5" name="">
            <a:extLst xmlns:a="http://schemas.openxmlformats.org/drawingml/2006/main">
              <a:ext uri="{FF2B5EF4-FFF2-40B4-BE49-F238E27FC236}">
                <a16:creationId xmlns:a16="http://schemas.microsoft.com/office/drawing/2014/main" id="{1DA2E568-145A-4CC9-B71D-B84D569676BC}"/>
              </a:ext>
            </a:extLst>
          </p:cNvPr>
          <p:cNvSpPr>
            <a:spLocks xmlns:a="http://schemas.openxmlformats.org/drawingml/2006/main" noGrp="1"/>
          </p:cNvSpPr>
          <p:nvPr/>
        </p:nvSpPr>
        <p:spPr>
          <a:xfrm xmlns:a="http://schemas.openxmlformats.org/drawingml/2006/main">
            <a:off x="628650" y="6134100"/>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7233B"/>
                </a:solidFill>
                <a:latin typeface="Arial"/>
                <a:ea typeface="Arial"/>
                <a:cs typeface="Arial"/>
              </a:defRPr>
            </a:pPr>
            <a:r>
              <a:rPr sz="1650" b="0">
                <a:solidFill>
                  <a:srgbClr val="17233B"/>
                </a:solidFill>
                <a:latin typeface="Arial"/>
                <a:ea typeface="Arial"/>
                <a:cs typeface="Arial"/>
              </a:rPr>
              <a:t>Vikram University use case  |  1 October 2026</a:t>
            </a:r>
          </a:p>
        </p:txBody>
      </p:sp>
    </p:spTree>
    <p:extLst>
      <p:ext uri="{BB962C8B-B14F-4D97-AF65-F5344CB8AC3E}">
        <p14:creationId xmlns:p14="http://schemas.microsoft.com/office/powerpoint/2010/main" val="16906586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0718D6-135B-463A-B869-047C1FB3D359}"/>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The Campus Service Problem</a:t>
            </a:r>
          </a:p>
        </p:txBody>
      </p:sp>
      <p:sp>
        <p:nvSpPr>
          <p:cNvPr id="2" name="">
            <a:extLst xmlns:a="http://schemas.openxmlformats.org/drawingml/2006/main">
              <a:ext uri="{FF2B5EF4-FFF2-40B4-BE49-F238E27FC236}">
                <a16:creationId xmlns:a16="http://schemas.microsoft.com/office/drawing/2014/main" id="{ED299359-3E19-4A16-AF54-7A1EF44EA3D6}"/>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Routine student work crosses disconnected offices and records.</a:t>
            </a:r>
          </a:p>
        </p:txBody>
      </p:sp>
      <p:sp>
        <p:nvSpPr>
          <p:cNvPr id="3" name="">
            <a:extLst xmlns:a="http://schemas.openxmlformats.org/drawingml/2006/main">
              <a:ext uri="{FF2B5EF4-FFF2-40B4-BE49-F238E27FC236}">
                <a16:creationId xmlns:a16="http://schemas.microsoft.com/office/drawing/2014/main" id="{649260C1-2A03-4C7A-9C8F-133D6AAC729B}"/>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02</a:t>
            </a:r>
          </a:p>
        </p:txBody>
      </p:sp>
      <p:sp>
        <p:nvSpPr>
          <p:cNvPr id="4" name="">
            <a:extLst xmlns:a="http://schemas.openxmlformats.org/drawingml/2006/main">
              <a:ext uri="{FF2B5EF4-FFF2-40B4-BE49-F238E27FC236}">
                <a16:creationId xmlns:a16="http://schemas.microsoft.com/office/drawing/2014/main" id="{F9BD99B3-9201-43E0-92D2-C41798FBF056}"/>
              </a:ext>
            </a:extLst>
          </p:cNvPr>
          <p:cNvSpPr>
            <a:spLocks xmlns:a="http://schemas.openxmlformats.org/drawingml/2006/main" noGrp="1"/>
          </p:cNvSpPr>
          <p:nvPr/>
        </p:nvSpPr>
        <p:spPr>
          <a:xfrm xmlns:a="http://schemas.openxmlformats.org/drawingml/2006/main">
            <a:off x="571500" y="17145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Fragmented services</a:t>
            </a:r>
          </a:p>
        </p:txBody>
      </p:sp>
      <p:sp>
        <p:nvSpPr>
          <p:cNvPr id="5" name="">
            <a:extLst xmlns:a="http://schemas.openxmlformats.org/drawingml/2006/main">
              <a:ext uri="{FF2B5EF4-FFF2-40B4-BE49-F238E27FC236}">
                <a16:creationId xmlns:a16="http://schemas.microsoft.com/office/drawing/2014/main" id="{83EFAF56-23BD-4478-9523-3DD5D035CFAE}"/>
              </a:ext>
            </a:extLst>
          </p:cNvPr>
          <p:cNvSpPr>
            <a:spLocks xmlns:a="http://schemas.openxmlformats.org/drawingml/2006/main" noGrp="1"/>
          </p:cNvSpPr>
          <p:nvPr/>
        </p:nvSpPr>
        <p:spPr>
          <a:xfrm xmlns:a="http://schemas.openxmlformats.org/drawingml/2006/main">
            <a:off x="3638550" y="17145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Admissions, academics, residence and transport often operate separately.</a:t>
            </a:r>
          </a:p>
        </p:txBody>
      </p:sp>
      <p:sp>
        <p:nvSpPr>
          <p:cNvPr id="6" name="">
            <a:extLst xmlns:a="http://schemas.openxmlformats.org/drawingml/2006/main">
              <a:ext uri="{FF2B5EF4-FFF2-40B4-BE49-F238E27FC236}">
                <a16:creationId xmlns:a16="http://schemas.microsoft.com/office/drawing/2014/main" id="{C65B2533-0232-4B95-B4A3-7C3D56458AE4}"/>
              </a:ext>
            </a:extLst>
          </p:cNvPr>
          <p:cNvSpPr>
            <a:spLocks xmlns:a="http://schemas.openxmlformats.org/drawingml/2006/main" noGrp="1"/>
          </p:cNvSpPr>
          <p:nvPr/>
        </p:nvSpPr>
        <p:spPr>
          <a:xfrm xmlns:a="http://schemas.openxmlformats.org/drawingml/2006/main">
            <a:off x="571500" y="27432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Repeated office visits</a:t>
            </a:r>
          </a:p>
        </p:txBody>
      </p:sp>
      <p:sp>
        <p:nvSpPr>
          <p:cNvPr id="7" name="">
            <a:extLst xmlns:a="http://schemas.openxmlformats.org/drawingml/2006/main">
              <a:ext uri="{FF2B5EF4-FFF2-40B4-BE49-F238E27FC236}">
                <a16:creationId xmlns:a16="http://schemas.microsoft.com/office/drawing/2014/main" id="{785BC18D-FFF2-4529-A6D4-FE785A0F446F}"/>
              </a:ext>
            </a:extLst>
          </p:cNvPr>
          <p:cNvSpPr>
            <a:spLocks xmlns:a="http://schemas.openxmlformats.org/drawingml/2006/main" noGrp="1"/>
          </p:cNvSpPr>
          <p:nvPr/>
        </p:nvSpPr>
        <p:spPr>
          <a:xfrm xmlns:a="http://schemas.openxmlformats.org/drawingml/2006/main">
            <a:off x="3638550" y="27432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Students need staff assistance to learn status, request services or correct records.</a:t>
            </a:r>
          </a:p>
        </p:txBody>
      </p:sp>
      <p:sp>
        <p:nvSpPr>
          <p:cNvPr id="8" name="">
            <a:extLst xmlns:a="http://schemas.openxmlformats.org/drawingml/2006/main">
              <a:ext uri="{FF2B5EF4-FFF2-40B4-BE49-F238E27FC236}">
                <a16:creationId xmlns:a16="http://schemas.microsoft.com/office/drawing/2014/main" id="{4F18B508-32E6-4935-9ED9-AC94A4233026}"/>
              </a:ext>
            </a:extLst>
          </p:cNvPr>
          <p:cNvSpPr>
            <a:spLocks xmlns:a="http://schemas.openxmlformats.org/drawingml/2006/main" noGrp="1"/>
          </p:cNvSpPr>
          <p:nvPr/>
        </p:nvSpPr>
        <p:spPr>
          <a:xfrm xmlns:a="http://schemas.openxmlformats.org/drawingml/2006/main">
            <a:off x="571500" y="37719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Limited visibility</a:t>
            </a:r>
          </a:p>
        </p:txBody>
      </p:sp>
      <p:sp>
        <p:nvSpPr>
          <p:cNvPr id="9" name="">
            <a:extLst xmlns:a="http://schemas.openxmlformats.org/drawingml/2006/main">
              <a:ext uri="{FF2B5EF4-FFF2-40B4-BE49-F238E27FC236}">
                <a16:creationId xmlns:a16="http://schemas.microsoft.com/office/drawing/2014/main" id="{DB6EC5FE-5AC3-4AD6-8080-646C4E1C17D2}"/>
              </a:ext>
            </a:extLst>
          </p:cNvPr>
          <p:cNvSpPr>
            <a:spLocks xmlns:a="http://schemas.openxmlformats.org/drawingml/2006/main" noGrp="1"/>
          </p:cNvSpPr>
          <p:nvPr/>
        </p:nvSpPr>
        <p:spPr>
          <a:xfrm xmlns:a="http://schemas.openxmlformats.org/drawingml/2006/main">
            <a:off x="3638550" y="37719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Students and parents cannot easily see who owns the next action.</a:t>
            </a:r>
          </a:p>
        </p:txBody>
      </p:sp>
      <p:sp>
        <p:nvSpPr>
          <p:cNvPr id="10" name="">
            <a:extLst xmlns:a="http://schemas.openxmlformats.org/drawingml/2006/main">
              <a:ext uri="{FF2B5EF4-FFF2-40B4-BE49-F238E27FC236}">
                <a16:creationId xmlns:a16="http://schemas.microsoft.com/office/drawing/2014/main" id="{418BD297-52B5-4D09-90F4-973DC134F77E}"/>
              </a:ext>
            </a:extLst>
          </p:cNvPr>
          <p:cNvSpPr>
            <a:spLocks xmlns:a="http://schemas.openxmlformats.org/drawingml/2006/main" noGrp="1"/>
          </p:cNvSpPr>
          <p:nvPr/>
        </p:nvSpPr>
        <p:spPr>
          <a:xfrm xmlns:a="http://schemas.openxmlformats.org/drawingml/2006/main">
            <a:off x="571500" y="48006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Late support</a:t>
            </a:r>
          </a:p>
        </p:txBody>
      </p:sp>
      <p:sp>
        <p:nvSpPr>
          <p:cNvPr id="11" name="">
            <a:extLst xmlns:a="http://schemas.openxmlformats.org/drawingml/2006/main">
              <a:ext uri="{FF2B5EF4-FFF2-40B4-BE49-F238E27FC236}">
                <a16:creationId xmlns:a16="http://schemas.microsoft.com/office/drawing/2014/main" id="{EF1D588E-83F6-4E9A-94D0-83E575E9752F}"/>
              </a:ext>
            </a:extLst>
          </p:cNvPr>
          <p:cNvSpPr>
            <a:spLocks xmlns:a="http://schemas.openxmlformats.org/drawingml/2006/main" noGrp="1"/>
          </p:cNvSpPr>
          <p:nvPr/>
        </p:nvSpPr>
        <p:spPr>
          <a:xfrm xmlns:a="http://schemas.openxmlformats.org/drawingml/2006/main">
            <a:off x="3638550" y="48006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Attendance and performance signals are difficult to turn into timely follow-up.</a:t>
            </a:r>
          </a:p>
        </p:txBody>
      </p:sp>
    </p:spTree>
    <p:extLst>
      <p:ext uri="{BB962C8B-B14F-4D97-AF65-F5344CB8AC3E}">
        <p14:creationId xmlns:p14="http://schemas.microsoft.com/office/powerpoint/2010/main" val="10525243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D813C2-BE95-46FF-83FB-FED49B92527D}"/>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One Platform, Three Accountable Roles</a:t>
            </a:r>
          </a:p>
        </p:txBody>
      </p:sp>
      <p:sp>
        <p:nvSpPr>
          <p:cNvPr id="2" name="">
            <a:extLst xmlns:a="http://schemas.openxmlformats.org/drawingml/2006/main">
              <a:ext uri="{FF2B5EF4-FFF2-40B4-BE49-F238E27FC236}">
                <a16:creationId xmlns:a16="http://schemas.microsoft.com/office/drawing/2014/main" id="{07CC3E37-AA3D-41A8-9442-11DA1CF1FBB0}"/>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Shared institutional records with different permissions and views.</a:t>
            </a:r>
          </a:p>
        </p:txBody>
      </p:sp>
      <p:sp>
        <p:nvSpPr>
          <p:cNvPr id="3" name="">
            <a:extLst xmlns:a="http://schemas.openxmlformats.org/drawingml/2006/main">
              <a:ext uri="{FF2B5EF4-FFF2-40B4-BE49-F238E27FC236}">
                <a16:creationId xmlns:a16="http://schemas.microsoft.com/office/drawing/2014/main" id="{DD290CB8-8464-47CC-B060-3332AF146094}"/>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03</a:t>
            </a:r>
          </a:p>
        </p:txBody>
      </p:sp>
      <p:sp>
        <p:nvSpPr>
          <p:cNvPr id="4" name="">
            <a:extLst xmlns:a="http://schemas.openxmlformats.org/drawingml/2006/main">
              <a:ext uri="{FF2B5EF4-FFF2-40B4-BE49-F238E27FC236}">
                <a16:creationId xmlns:a16="http://schemas.microsoft.com/office/drawing/2014/main" id="{5AAAF030-62A9-4685-86CC-62696DB2AA3E}"/>
              </a:ext>
            </a:extLst>
          </p:cNvPr>
          <p:cNvSpPr>
            <a:spLocks xmlns:a="http://schemas.openxmlformats.org/drawingml/2006/main" noGrp="1"/>
          </p:cNvSpPr>
          <p:nvPr/>
        </p:nvSpPr>
        <p:spPr>
          <a:xfrm xmlns:a="http://schemas.openxmlformats.org/drawingml/2006/main">
            <a:off x="571500" y="17145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Administrator</a:t>
            </a:r>
          </a:p>
        </p:txBody>
      </p:sp>
      <p:sp>
        <p:nvSpPr>
          <p:cNvPr id="5" name="">
            <a:extLst xmlns:a="http://schemas.openxmlformats.org/drawingml/2006/main">
              <a:ext uri="{FF2B5EF4-FFF2-40B4-BE49-F238E27FC236}">
                <a16:creationId xmlns:a16="http://schemas.microsoft.com/office/drawing/2014/main" id="{5B7A488C-277C-4D20-902D-F6E9614B8051}"/>
              </a:ext>
            </a:extLst>
          </p:cNvPr>
          <p:cNvSpPr>
            <a:spLocks xmlns:a="http://schemas.openxmlformats.org/drawingml/2006/main" noGrp="1"/>
          </p:cNvSpPr>
          <p:nvPr/>
        </p:nvSpPr>
        <p:spPr>
          <a:xfrm xmlns:a="http://schemas.openxmlformats.org/drawingml/2006/main">
            <a:off x="3495675" y="1714500"/>
            <a:ext cx="8124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Creates the university structure, enrolls students and operates services.</a:t>
            </a:r>
          </a:p>
        </p:txBody>
      </p:sp>
      <p:sp>
        <p:nvSpPr>
          <p:cNvPr id="6" name="">
            <a:extLst xmlns:a="http://schemas.openxmlformats.org/drawingml/2006/main">
              <a:ext uri="{FF2B5EF4-FFF2-40B4-BE49-F238E27FC236}">
                <a16:creationId xmlns:a16="http://schemas.microsoft.com/office/drawing/2014/main" id="{2C439B72-204A-40DA-83E1-1D7108BC8786}"/>
              </a:ext>
            </a:extLst>
          </p:cNvPr>
          <p:cNvSpPr>
            <a:spLocks xmlns:a="http://schemas.openxmlformats.org/drawingml/2006/main" noGrp="1"/>
          </p:cNvSpPr>
          <p:nvPr/>
        </p:nvSpPr>
        <p:spPr>
          <a:xfrm xmlns:a="http://schemas.openxmlformats.org/drawingml/2006/main">
            <a:off x="571500" y="290512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Student</a:t>
            </a:r>
          </a:p>
        </p:txBody>
      </p:sp>
      <p:sp>
        <p:nvSpPr>
          <p:cNvPr id="7" name="">
            <a:extLst xmlns:a="http://schemas.openxmlformats.org/drawingml/2006/main">
              <a:ext uri="{FF2B5EF4-FFF2-40B4-BE49-F238E27FC236}">
                <a16:creationId xmlns:a16="http://schemas.microsoft.com/office/drawing/2014/main" id="{3C969FBC-36E3-418A-95FE-904FFA464F2C}"/>
              </a:ext>
            </a:extLst>
          </p:cNvPr>
          <p:cNvSpPr>
            <a:spLocks xmlns:a="http://schemas.openxmlformats.org/drawingml/2006/main" noGrp="1"/>
          </p:cNvSpPr>
          <p:nvPr/>
        </p:nvSpPr>
        <p:spPr>
          <a:xfrm xmlns:a="http://schemas.openxmlformats.org/drawingml/2006/main">
            <a:off x="3495675" y="2905125"/>
            <a:ext cx="8124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Views personal records, asks questions and tracks service requests.</a:t>
            </a:r>
          </a:p>
        </p:txBody>
      </p:sp>
      <p:sp>
        <p:nvSpPr>
          <p:cNvPr id="8" name="">
            <a:extLst xmlns:a="http://schemas.openxmlformats.org/drawingml/2006/main">
              <a:ext uri="{FF2B5EF4-FFF2-40B4-BE49-F238E27FC236}">
                <a16:creationId xmlns:a16="http://schemas.microsoft.com/office/drawing/2014/main" id="{DB72FA6D-6650-4CA2-AD78-2A1DAEA5C78C}"/>
              </a:ext>
            </a:extLst>
          </p:cNvPr>
          <p:cNvSpPr>
            <a:spLocks xmlns:a="http://schemas.openxmlformats.org/drawingml/2006/main" noGrp="1"/>
          </p:cNvSpPr>
          <p:nvPr/>
        </p:nvSpPr>
        <p:spPr>
          <a:xfrm xmlns:a="http://schemas.openxmlformats.org/drawingml/2006/main">
            <a:off x="571500" y="409575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Parent</a:t>
            </a:r>
          </a:p>
        </p:txBody>
      </p:sp>
      <p:sp>
        <p:nvSpPr>
          <p:cNvPr id="9" name="">
            <a:extLst xmlns:a="http://schemas.openxmlformats.org/drawingml/2006/main">
              <a:ext uri="{FF2B5EF4-FFF2-40B4-BE49-F238E27FC236}">
                <a16:creationId xmlns:a16="http://schemas.microsoft.com/office/drawing/2014/main" id="{D8C5E781-AAF8-4FA7-8610-0CCD5DD722B3}"/>
              </a:ext>
            </a:extLst>
          </p:cNvPr>
          <p:cNvSpPr>
            <a:spLocks xmlns:a="http://schemas.openxmlformats.org/drawingml/2006/main" noGrp="1"/>
          </p:cNvSpPr>
          <p:nvPr/>
        </p:nvSpPr>
        <p:spPr>
          <a:xfrm xmlns:a="http://schemas.openxmlformats.org/drawingml/2006/main">
            <a:off x="3495675" y="4095750"/>
            <a:ext cx="8124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Views only students linked by authorized university staff.</a:t>
            </a:r>
          </a:p>
        </p:txBody>
      </p:sp>
      <p:sp>
        <p:nvSpPr>
          <p:cNvPr id="10" name="">
            <a:extLst xmlns:a="http://schemas.openxmlformats.org/drawingml/2006/main">
              <a:ext uri="{FF2B5EF4-FFF2-40B4-BE49-F238E27FC236}">
                <a16:creationId xmlns:a16="http://schemas.microsoft.com/office/drawing/2014/main" id="{F7844199-A5CA-4704-BC3E-D7F8C09FFE04}"/>
              </a:ext>
            </a:extLst>
          </p:cNvPr>
          <p:cNvSpPr>
            <a:spLocks xmlns:a="http://schemas.openxmlformats.org/drawingml/2006/main" noGrp="1"/>
          </p:cNvSpPr>
          <p:nvPr/>
        </p:nvSpPr>
        <p:spPr>
          <a:xfrm xmlns:a="http://schemas.openxmlformats.org/drawingml/2006/main">
            <a:off x="571500" y="55721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F78"/>
                </a:solidFill>
                <a:latin typeface="Arial"/>
                <a:ea typeface="Arial"/>
                <a:cs typeface="Arial"/>
              </a:defRPr>
            </a:pPr>
            <a:r>
              <a:rPr sz="2250" b="1">
                <a:solidFill>
                  <a:srgbClr val="087F78"/>
                </a:solidFill>
                <a:latin typeface="Arial"/>
                <a:ea typeface="Arial"/>
                <a:cs typeface="Arial"/>
              </a:rPr>
              <a:t>Admin action  &gt;  Persisted record  &gt;  Authorized portal view</a:t>
            </a:r>
          </a:p>
        </p:txBody>
      </p:sp>
    </p:spTree>
    <p:extLst>
      <p:ext uri="{BB962C8B-B14F-4D97-AF65-F5344CB8AC3E}">
        <p14:creationId xmlns:p14="http://schemas.microsoft.com/office/powerpoint/2010/main" val="698753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211B954-03BD-4CAA-99B9-7A302A131FA6}"/>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Student Lifecycle Workflow</a:t>
            </a:r>
          </a:p>
        </p:txBody>
      </p:sp>
      <p:sp>
        <p:nvSpPr>
          <p:cNvPr id="2" name="">
            <a:extLst xmlns:a="http://schemas.openxmlformats.org/drawingml/2006/main">
              <a:ext uri="{FF2B5EF4-FFF2-40B4-BE49-F238E27FC236}">
                <a16:creationId xmlns:a16="http://schemas.microsoft.com/office/drawing/2014/main" id="{F4F8E886-DC43-43D6-82DC-DB436DB283BA}"/>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University staff own the data that becomes the student experience.</a:t>
            </a:r>
          </a:p>
        </p:txBody>
      </p:sp>
      <p:sp>
        <p:nvSpPr>
          <p:cNvPr id="3" name="">
            <a:extLst xmlns:a="http://schemas.openxmlformats.org/drawingml/2006/main">
              <a:ext uri="{FF2B5EF4-FFF2-40B4-BE49-F238E27FC236}">
                <a16:creationId xmlns:a16="http://schemas.microsoft.com/office/drawing/2014/main" id="{974773B9-A19C-4878-A136-79937462C94C}"/>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04</a:t>
            </a:r>
          </a:p>
        </p:txBody>
      </p:sp>
      <p:sp>
        <p:nvSpPr>
          <p:cNvPr id="4" name="">
            <a:extLst xmlns:a="http://schemas.openxmlformats.org/drawingml/2006/main">
              <a:ext uri="{FF2B5EF4-FFF2-40B4-BE49-F238E27FC236}">
                <a16:creationId xmlns:a16="http://schemas.microsoft.com/office/drawing/2014/main" id="{5C1B4534-1F03-48CF-A75B-1253150531B4}"/>
              </a:ext>
            </a:extLst>
          </p:cNvPr>
          <p:cNvSpPr>
            <a:spLocks xmlns:a="http://schemas.openxmlformats.org/drawingml/2006/main" noGrp="1"/>
          </p:cNvSpPr>
          <p:nvPr/>
        </p:nvSpPr>
        <p:spPr>
          <a:xfrm xmlns:a="http://schemas.openxmlformats.org/drawingml/2006/main">
            <a:off x="571500" y="15906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01  Configure</a:t>
            </a:r>
          </a:p>
        </p:txBody>
      </p:sp>
      <p:sp>
        <p:nvSpPr>
          <p:cNvPr id="5" name="">
            <a:extLst xmlns:a="http://schemas.openxmlformats.org/drawingml/2006/main">
              <a:ext uri="{FF2B5EF4-FFF2-40B4-BE49-F238E27FC236}">
                <a16:creationId xmlns:a16="http://schemas.microsoft.com/office/drawing/2014/main" id="{E4893BA4-72AE-4BA0-9766-C176DFE0E00C}"/>
              </a:ext>
            </a:extLst>
          </p:cNvPr>
          <p:cNvSpPr>
            <a:spLocks xmlns:a="http://schemas.openxmlformats.org/drawingml/2006/main" noGrp="1"/>
          </p:cNvSpPr>
          <p:nvPr/>
        </p:nvSpPr>
        <p:spPr>
          <a:xfrm xmlns:a="http://schemas.openxmlformats.org/drawingml/2006/main">
            <a:off x="3257550" y="1590675"/>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University, department, programme, session and curriculum.</a:t>
            </a:r>
          </a:p>
        </p:txBody>
      </p:sp>
      <p:sp>
        <p:nvSpPr>
          <p:cNvPr id="6" name="">
            <a:extLst xmlns:a="http://schemas.openxmlformats.org/drawingml/2006/main">
              <a:ext uri="{FF2B5EF4-FFF2-40B4-BE49-F238E27FC236}">
                <a16:creationId xmlns:a16="http://schemas.microsoft.com/office/drawing/2014/main" id="{56CE2531-E6E5-4F87-B7C6-03E82A75AAA9}"/>
              </a:ext>
            </a:extLst>
          </p:cNvPr>
          <p:cNvSpPr>
            <a:spLocks xmlns:a="http://schemas.openxmlformats.org/drawingml/2006/main" noGrp="1"/>
          </p:cNvSpPr>
          <p:nvPr/>
        </p:nvSpPr>
        <p:spPr>
          <a:xfrm xmlns:a="http://schemas.openxmlformats.org/drawingml/2006/main">
            <a:off x="571500" y="244792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02  Register</a:t>
            </a:r>
          </a:p>
        </p:txBody>
      </p:sp>
      <p:sp>
        <p:nvSpPr>
          <p:cNvPr id="7" name="">
            <a:extLst xmlns:a="http://schemas.openxmlformats.org/drawingml/2006/main">
              <a:ext uri="{FF2B5EF4-FFF2-40B4-BE49-F238E27FC236}">
                <a16:creationId xmlns:a16="http://schemas.microsoft.com/office/drawing/2014/main" id="{8CA9A3FA-20E4-409C-87E2-F0FA2BB52A5F}"/>
              </a:ext>
            </a:extLst>
          </p:cNvPr>
          <p:cNvSpPr>
            <a:spLocks xmlns:a="http://schemas.openxmlformats.org/drawingml/2006/main" noGrp="1"/>
          </p:cNvSpPr>
          <p:nvPr/>
        </p:nvSpPr>
        <p:spPr>
          <a:xfrm xmlns:a="http://schemas.openxmlformats.org/drawingml/2006/main">
            <a:off x="3257550" y="2447925"/>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Student account, unique Uni-ID and institutional identifiers.</a:t>
            </a:r>
          </a:p>
        </p:txBody>
      </p:sp>
      <p:sp>
        <p:nvSpPr>
          <p:cNvPr id="8" name="">
            <a:extLst xmlns:a="http://schemas.openxmlformats.org/drawingml/2006/main">
              <a:ext uri="{FF2B5EF4-FFF2-40B4-BE49-F238E27FC236}">
                <a16:creationId xmlns:a16="http://schemas.microsoft.com/office/drawing/2014/main" id="{50F76CED-0FAF-44FB-B3FB-BB4F92E52749}"/>
              </a:ext>
            </a:extLst>
          </p:cNvPr>
          <p:cNvSpPr>
            <a:spLocks xmlns:a="http://schemas.openxmlformats.org/drawingml/2006/main" noGrp="1"/>
          </p:cNvSpPr>
          <p:nvPr/>
        </p:nvSpPr>
        <p:spPr>
          <a:xfrm xmlns:a="http://schemas.openxmlformats.org/drawingml/2006/main">
            <a:off x="571500" y="33051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03  Provision</a:t>
            </a:r>
          </a:p>
        </p:txBody>
      </p:sp>
      <p:sp>
        <p:nvSpPr>
          <p:cNvPr id="9" name="">
            <a:extLst xmlns:a="http://schemas.openxmlformats.org/drawingml/2006/main">
              <a:ext uri="{FF2B5EF4-FFF2-40B4-BE49-F238E27FC236}">
                <a16:creationId xmlns:a16="http://schemas.microsoft.com/office/drawing/2014/main" id="{AA0941DB-E40B-48F1-A2D2-0085EBF8BC6C}"/>
              </a:ext>
            </a:extLst>
          </p:cNvPr>
          <p:cNvSpPr>
            <a:spLocks xmlns:a="http://schemas.openxmlformats.org/drawingml/2006/main" noGrp="1"/>
          </p:cNvSpPr>
          <p:nvPr/>
        </p:nvSpPr>
        <p:spPr>
          <a:xfrm xmlns:a="http://schemas.openxmlformats.org/drawingml/2006/main">
            <a:off x="3257550" y="3305175"/>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Assign semester; enroll courses; prepare timetable and examination plan.</a:t>
            </a:r>
          </a:p>
        </p:txBody>
      </p:sp>
      <p:sp>
        <p:nvSpPr>
          <p:cNvPr id="10" name="">
            <a:extLst xmlns:a="http://schemas.openxmlformats.org/drawingml/2006/main">
              <a:ext uri="{FF2B5EF4-FFF2-40B4-BE49-F238E27FC236}">
                <a16:creationId xmlns:a16="http://schemas.microsoft.com/office/drawing/2014/main" id="{ECCC49E4-5EEA-4229-A76A-DBA80E171DD2}"/>
              </a:ext>
            </a:extLst>
          </p:cNvPr>
          <p:cNvSpPr>
            <a:spLocks xmlns:a="http://schemas.openxmlformats.org/drawingml/2006/main" noGrp="1"/>
          </p:cNvSpPr>
          <p:nvPr/>
        </p:nvSpPr>
        <p:spPr>
          <a:xfrm xmlns:a="http://schemas.openxmlformats.org/drawingml/2006/main">
            <a:off x="571500" y="416242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04  Operate</a:t>
            </a:r>
          </a:p>
        </p:txBody>
      </p:sp>
      <p:sp>
        <p:nvSpPr>
          <p:cNvPr id="11" name="">
            <a:extLst xmlns:a="http://schemas.openxmlformats.org/drawingml/2006/main">
              <a:ext uri="{FF2B5EF4-FFF2-40B4-BE49-F238E27FC236}">
                <a16:creationId xmlns:a16="http://schemas.microsoft.com/office/drawing/2014/main" id="{862C9314-2D38-4827-923C-21DD4C76BC25}"/>
              </a:ext>
            </a:extLst>
          </p:cNvPr>
          <p:cNvSpPr>
            <a:spLocks xmlns:a="http://schemas.openxmlformats.org/drawingml/2006/main" noGrp="1"/>
          </p:cNvSpPr>
          <p:nvPr/>
        </p:nvSpPr>
        <p:spPr>
          <a:xfrm xmlns:a="http://schemas.openxmlformats.org/drawingml/2006/main">
            <a:off x="3257550" y="4162425"/>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Record attendance/results; allocate residence and transport; issue certificates.</a:t>
            </a:r>
          </a:p>
        </p:txBody>
      </p:sp>
      <p:sp>
        <p:nvSpPr>
          <p:cNvPr id="12" name="">
            <a:extLst xmlns:a="http://schemas.openxmlformats.org/drawingml/2006/main">
              <a:ext uri="{FF2B5EF4-FFF2-40B4-BE49-F238E27FC236}">
                <a16:creationId xmlns:a16="http://schemas.microsoft.com/office/drawing/2014/main" id="{C5962235-5A0D-4278-885E-EA17D8535F6F}"/>
              </a:ext>
            </a:extLst>
          </p:cNvPr>
          <p:cNvSpPr>
            <a:spLocks xmlns:a="http://schemas.openxmlformats.org/drawingml/2006/main" noGrp="1"/>
          </p:cNvSpPr>
          <p:nvPr/>
        </p:nvSpPr>
        <p:spPr>
          <a:xfrm xmlns:a="http://schemas.openxmlformats.org/drawingml/2006/main">
            <a:off x="571500" y="50196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05  Support</a:t>
            </a:r>
          </a:p>
        </p:txBody>
      </p:sp>
      <p:sp>
        <p:nvSpPr>
          <p:cNvPr id="13" name="">
            <a:extLst xmlns:a="http://schemas.openxmlformats.org/drawingml/2006/main">
              <a:ext uri="{FF2B5EF4-FFF2-40B4-BE49-F238E27FC236}">
                <a16:creationId xmlns:a16="http://schemas.microsoft.com/office/drawing/2014/main" id="{4F3592D5-DDCA-413A-9EDD-B7059E2AD634}"/>
              </a:ext>
            </a:extLst>
          </p:cNvPr>
          <p:cNvSpPr>
            <a:spLocks xmlns:a="http://schemas.openxmlformats.org/drawingml/2006/main" noGrp="1"/>
          </p:cNvSpPr>
          <p:nvPr/>
        </p:nvSpPr>
        <p:spPr>
          <a:xfrm xmlns:a="http://schemas.openxmlformats.org/drawingml/2006/main">
            <a:off x="3257550" y="5019675"/>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Link parents; surface warnings; assign interventions and follow up.</a:t>
            </a:r>
          </a:p>
        </p:txBody>
      </p:sp>
    </p:spTree>
    <p:extLst>
      <p:ext uri="{BB962C8B-B14F-4D97-AF65-F5344CB8AC3E}">
        <p14:creationId xmlns:p14="http://schemas.microsoft.com/office/powerpoint/2010/main" val="7747791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336BAC-9192-41E0-A16F-B80E67A0A900}"/>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Administration and Governance</a:t>
            </a:r>
          </a:p>
        </p:txBody>
      </p:sp>
      <p:sp>
        <p:nvSpPr>
          <p:cNvPr id="2" name="">
            <a:extLst xmlns:a="http://schemas.openxmlformats.org/drawingml/2006/main">
              <a:ext uri="{FF2B5EF4-FFF2-40B4-BE49-F238E27FC236}">
                <a16:creationId xmlns:a16="http://schemas.microsoft.com/office/drawing/2014/main" id="{EE129BB8-2BD2-4ED2-9E2A-46C700E07EA9}"/>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A live operating view, not a separate static dashboard.</a:t>
            </a:r>
          </a:p>
        </p:txBody>
      </p:sp>
      <p:sp>
        <p:nvSpPr>
          <p:cNvPr id="3" name="">
            <a:extLst xmlns:a="http://schemas.openxmlformats.org/drawingml/2006/main">
              <a:ext uri="{FF2B5EF4-FFF2-40B4-BE49-F238E27FC236}">
                <a16:creationId xmlns:a16="http://schemas.microsoft.com/office/drawing/2014/main" id="{6DA74FA9-61B0-4063-B815-6FD4D552D167}"/>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9dc9a792dd0420e"/>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07F50F-E801-4438-AC7B-E36E7E7F444A}"/>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Registry, academic readiness and collection status in one place.</a:t>
            </a:r>
          </a:p>
        </p:txBody>
      </p:sp>
    </p:spTree>
    <p:extLst>
      <p:ext uri="{BB962C8B-B14F-4D97-AF65-F5344CB8AC3E}">
        <p14:creationId xmlns:p14="http://schemas.microsoft.com/office/powerpoint/2010/main" val="18644473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420764-BBA0-4AE8-8157-1EE78253901D}"/>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Academic Planning</a:t>
            </a:r>
          </a:p>
        </p:txBody>
      </p:sp>
      <p:sp>
        <p:nvSpPr>
          <p:cNvPr id="2" name="">
            <a:extLst xmlns:a="http://schemas.openxmlformats.org/drawingml/2006/main">
              <a:ext uri="{FF2B5EF4-FFF2-40B4-BE49-F238E27FC236}">
                <a16:creationId xmlns:a16="http://schemas.microsoft.com/office/drawing/2014/main" id="{A08128A9-5082-4D29-8FD9-D9A440F0BDC2}"/>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Programme and curriculum assignment drives the semester workflow.</a:t>
            </a:r>
          </a:p>
        </p:txBody>
      </p:sp>
      <p:sp>
        <p:nvSpPr>
          <p:cNvPr id="3" name="">
            <a:extLst xmlns:a="http://schemas.openxmlformats.org/drawingml/2006/main">
              <a:ext uri="{FF2B5EF4-FFF2-40B4-BE49-F238E27FC236}">
                <a16:creationId xmlns:a16="http://schemas.microsoft.com/office/drawing/2014/main" id="{D5EF03BB-4AD3-4D47-9D66-9D43A4026A35}"/>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a6071b0e5d4e14"/>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AF87EC-75B5-4498-BB12-24E3EC2C8157}"/>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Raj has a configured plan with course and timetable provisioning.</a:t>
            </a:r>
          </a:p>
        </p:txBody>
      </p:sp>
    </p:spTree>
    <p:extLst>
      <p:ext uri="{BB962C8B-B14F-4D97-AF65-F5344CB8AC3E}">
        <p14:creationId xmlns:p14="http://schemas.microsoft.com/office/powerpoint/2010/main" val="3619921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3B67DE-A8DD-45BE-BDCD-D0D2FC64AB49}"/>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Attendance Operations</a:t>
            </a:r>
          </a:p>
        </p:txBody>
      </p:sp>
      <p:sp>
        <p:nvSpPr>
          <p:cNvPr id="2" name="">
            <a:extLst xmlns:a="http://schemas.openxmlformats.org/drawingml/2006/main">
              <a:ext uri="{FF2B5EF4-FFF2-40B4-BE49-F238E27FC236}">
                <a16:creationId xmlns:a16="http://schemas.microsoft.com/office/drawing/2014/main" id="{1F670539-1922-4017-AB28-5BB680CC85DB}"/>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Course sessions connect to the enrolled roster.</a:t>
            </a:r>
          </a:p>
        </p:txBody>
      </p:sp>
      <p:sp>
        <p:nvSpPr>
          <p:cNvPr id="3" name="">
            <a:extLst xmlns:a="http://schemas.openxmlformats.org/drawingml/2006/main">
              <a:ext uri="{FF2B5EF4-FFF2-40B4-BE49-F238E27FC236}">
                <a16:creationId xmlns:a16="http://schemas.microsoft.com/office/drawing/2014/main" id="{8D388C15-AD05-42CB-BC72-36EDD0351BCE}"/>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4566fe4443c41cc"/>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64403D-FF6F-4263-A8C6-BEE9CAA58C62}"/>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Create a session  &gt;  Mark attendance  &gt;  Lock the verified record</a:t>
            </a:r>
          </a:p>
        </p:txBody>
      </p:sp>
    </p:spTree>
    <p:extLst>
      <p:ext uri="{BB962C8B-B14F-4D97-AF65-F5344CB8AC3E}">
        <p14:creationId xmlns:p14="http://schemas.microsoft.com/office/powerpoint/2010/main" val="3544283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BEA90C-20B0-4088-AD1C-8BB5489CB6C2}"/>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Examination Operations</a:t>
            </a:r>
          </a:p>
        </p:txBody>
      </p:sp>
      <p:sp>
        <p:nvSpPr>
          <p:cNvPr id="2" name="">
            <a:extLst xmlns:a="http://schemas.openxmlformats.org/drawingml/2006/main">
              <a:ext uri="{FF2B5EF4-FFF2-40B4-BE49-F238E27FC236}">
                <a16:creationId xmlns:a16="http://schemas.microsoft.com/office/drawing/2014/main" id="{998C55D7-E258-42DA-AAA3-3B06A5D79ACC}"/>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Schedule papers and manage student registration.</a:t>
            </a:r>
          </a:p>
        </p:txBody>
      </p:sp>
      <p:sp>
        <p:nvSpPr>
          <p:cNvPr id="3" name="">
            <a:extLst xmlns:a="http://schemas.openxmlformats.org/drawingml/2006/main">
              <a:ext uri="{FF2B5EF4-FFF2-40B4-BE49-F238E27FC236}">
                <a16:creationId xmlns:a16="http://schemas.microsoft.com/office/drawing/2014/main" id="{D8A65F28-2F40-4C7C-86D0-277887418431}"/>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d87a452e1b4809"/>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131983-D455-4A64-A117-DCEB1022375E}"/>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Examination windows, paper dates, venues and approvals are linked.</a:t>
            </a:r>
          </a:p>
        </p:txBody>
      </p:sp>
    </p:spTree>
    <p:extLst>
      <p:ext uri="{BB962C8B-B14F-4D97-AF65-F5344CB8AC3E}">
        <p14:creationId xmlns:p14="http://schemas.microsoft.com/office/powerpoint/2010/main" val="537838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9DB252-B106-40AE-8006-BD8C544BEFB5}"/>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The Personalized Student Portal</a:t>
            </a:r>
          </a:p>
        </p:txBody>
      </p:sp>
      <p:sp>
        <p:nvSpPr>
          <p:cNvPr id="2" name="">
            <a:extLst xmlns:a="http://schemas.openxmlformats.org/drawingml/2006/main">
              <a:ext uri="{FF2B5EF4-FFF2-40B4-BE49-F238E27FC236}">
                <a16:creationId xmlns:a16="http://schemas.microsoft.com/office/drawing/2014/main" id="{68BA5163-3732-45C0-A1AB-BAF58C55D553}"/>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Raj sees his own identity, academics and service position.</a:t>
            </a:r>
          </a:p>
        </p:txBody>
      </p:sp>
      <p:sp>
        <p:nvSpPr>
          <p:cNvPr id="3" name="">
            <a:extLst xmlns:a="http://schemas.openxmlformats.org/drawingml/2006/main">
              <a:ext uri="{FF2B5EF4-FFF2-40B4-BE49-F238E27FC236}">
                <a16:creationId xmlns:a16="http://schemas.microsoft.com/office/drawing/2014/main" id="{033A3823-6B8C-4274-ADCC-02C97409746D}"/>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09</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1d1e26f73f14109"/>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AECBD2-A844-408C-9D89-B1DC0758E307}"/>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Personal overview, recommendations and timetable share the student identity.</a:t>
            </a:r>
          </a:p>
        </p:txBody>
      </p:sp>
    </p:spTree>
    <p:extLst>
      <p:ext uri="{BB962C8B-B14F-4D97-AF65-F5344CB8AC3E}">
        <p14:creationId xmlns:p14="http://schemas.microsoft.com/office/powerpoint/2010/main" val="10271803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F590D0-468F-47C5-8B28-844B071F8F2D}"/>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Hostel Allocation: Admin to Student</a:t>
            </a:r>
          </a:p>
        </p:txBody>
      </p:sp>
      <p:sp>
        <p:nvSpPr>
          <p:cNvPr id="2" name="">
            <a:extLst xmlns:a="http://schemas.openxmlformats.org/drawingml/2006/main">
              <a:ext uri="{FF2B5EF4-FFF2-40B4-BE49-F238E27FC236}">
                <a16:creationId xmlns:a16="http://schemas.microsoft.com/office/drawing/2014/main" id="{0EB827F1-26B9-4AE6-B8AA-BD5EB82AAB6C}"/>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Building capacity and the student residence record stay connected.</a:t>
            </a:r>
          </a:p>
        </p:txBody>
      </p:sp>
      <p:sp>
        <p:nvSpPr>
          <p:cNvPr id="3" name="">
            <a:extLst xmlns:a="http://schemas.openxmlformats.org/drawingml/2006/main">
              <a:ext uri="{FF2B5EF4-FFF2-40B4-BE49-F238E27FC236}">
                <a16:creationId xmlns:a16="http://schemas.microsoft.com/office/drawing/2014/main" id="{BDBF5B7E-33C9-4423-9BF4-419750DCC508}"/>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10</a:t>
            </a:r>
          </a:p>
        </p:txBody>
      </p:sp>
      <p:sp>
        <p:nvSpPr>
          <p:cNvPr id="4" name="">
            <a:extLst xmlns:a="http://schemas.openxmlformats.org/drawingml/2006/main">
              <a:ext uri="{FF2B5EF4-FFF2-40B4-BE49-F238E27FC236}">
                <a16:creationId xmlns:a16="http://schemas.microsoft.com/office/drawing/2014/main" id="{01927E2E-E174-464F-BA59-5EFBB36A7A41}"/>
              </a:ext>
            </a:extLst>
          </p:cNvPr>
          <p:cNvSpPr>
            <a:spLocks xmlns:a="http://schemas.openxmlformats.org/drawingml/2006/main" noGrp="1"/>
          </p:cNvSpPr>
          <p:nvPr/>
        </p:nvSpPr>
        <p:spPr>
          <a:xfrm xmlns:a="http://schemas.openxmlformats.org/drawingml/2006/main">
            <a:off x="533400" y="15240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87F78"/>
                </a:solidFill>
                <a:latin typeface="Arial"/>
                <a:ea typeface="Arial"/>
                <a:cs typeface="Arial"/>
              </a:defRPr>
            </a:pPr>
            <a:r>
              <a:rPr sz="1650" b="1">
                <a:solidFill>
                  <a:srgbClr val="087F78"/>
                </a:solidFill>
                <a:latin typeface="Arial"/>
                <a:ea typeface="Arial"/>
                <a:cs typeface="Arial"/>
              </a:rPr>
              <a:t>ADMIN: OCCUPANCY AND RESIDENTS</a:t>
            </a:r>
          </a:p>
        </p:txBody>
      </p:sp>
      <p:sp>
        <p:nvSpPr>
          <p:cNvPr id="5" name="">
            <a:extLst xmlns:a="http://schemas.openxmlformats.org/drawingml/2006/main">
              <a:ext uri="{FF2B5EF4-FFF2-40B4-BE49-F238E27FC236}">
                <a16:creationId xmlns:a16="http://schemas.microsoft.com/office/drawing/2014/main" id="{1C95FDB6-DC51-4731-AB4F-88FEA2CF3F48}"/>
              </a:ext>
            </a:extLst>
          </p:cNvPr>
          <p:cNvSpPr>
            <a:spLocks xmlns:a="http://schemas.openxmlformats.org/drawingml/2006/main" noGrp="1"/>
          </p:cNvSpPr>
          <p:nvPr/>
        </p:nvSpPr>
        <p:spPr>
          <a:xfrm xmlns:a="http://schemas.openxmlformats.org/drawingml/2006/main">
            <a:off x="6286500" y="15240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87F78"/>
                </a:solidFill>
                <a:latin typeface="Arial"/>
                <a:ea typeface="Arial"/>
                <a:cs typeface="Arial"/>
              </a:defRPr>
            </a:pPr>
            <a:r>
              <a:rPr sz="1650" b="1">
                <a:solidFill>
                  <a:srgbClr val="087F78"/>
                </a:solidFill>
                <a:latin typeface="Arial"/>
                <a:ea typeface="Arial"/>
                <a:cs typeface="Arial"/>
              </a:rPr>
              <a:t>STUDENT: PERSONAL ALLOCATION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855815228094715"/>
          <a:stretch xmlns:a="http://schemas.openxmlformats.org/drawingml/2006/main"/>
        </p:blipFill>
        <p:spPr>
          <a:xfrm xmlns:a="http://schemas.openxmlformats.org/drawingml/2006/main">
            <a:off x="533400" y="2170509"/>
            <a:ext cx="5410200" cy="3212306"/>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687bf25f954473"/>
          <a:stretch xmlns:a="http://schemas.openxmlformats.org/drawingml/2006/main"/>
        </p:blipFill>
        <p:spPr>
          <a:xfrm xmlns:a="http://schemas.openxmlformats.org/drawingml/2006/main">
            <a:off x="6248400" y="2170509"/>
            <a:ext cx="5410200" cy="321230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5B07590-0876-4283-B53B-E92049734398}"/>
              </a:ext>
            </a:extLst>
          </p:cNvPr>
          <p:cNvSpPr>
            <a:spLocks xmlns:a="http://schemas.openxmlformats.org/drawingml/2006/main" noGrp="1"/>
          </p:cNvSpPr>
          <p:nvPr/>
        </p:nvSpPr>
        <p:spPr>
          <a:xfrm xmlns:a="http://schemas.openxmlformats.org/drawingml/2006/main">
            <a:off x="552450" y="59531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87F78"/>
                </a:solidFill>
                <a:latin typeface="Arial"/>
                <a:ea typeface="Arial"/>
                <a:cs typeface="Arial"/>
              </a:defRPr>
            </a:pPr>
            <a:r>
              <a:rPr sz="1725" b="1">
                <a:solidFill>
                  <a:srgbClr val="087F78"/>
                </a:solidFill>
                <a:latin typeface="Arial"/>
                <a:ea typeface="Arial"/>
                <a:cs typeface="Arial"/>
              </a:rPr>
              <a:t>Building  &gt;  Room and capacity  &gt;  Allocation  &gt;  Student details and requests</a:t>
            </a:r>
          </a:p>
        </p:txBody>
      </p:sp>
    </p:spTree>
    <p:extLst>
      <p:ext uri="{BB962C8B-B14F-4D97-AF65-F5344CB8AC3E}">
        <p14:creationId xmlns:p14="http://schemas.microsoft.com/office/powerpoint/2010/main" val="5961769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E3E4FE-6441-4FF1-9167-FF58DAAE69C7}"/>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Transport Allocation: Admin to Student</a:t>
            </a:r>
          </a:p>
        </p:txBody>
      </p:sp>
      <p:sp>
        <p:nvSpPr>
          <p:cNvPr id="2" name="">
            <a:extLst xmlns:a="http://schemas.openxmlformats.org/drawingml/2006/main">
              <a:ext uri="{FF2B5EF4-FFF2-40B4-BE49-F238E27FC236}">
                <a16:creationId xmlns:a16="http://schemas.microsoft.com/office/drawing/2014/main" id="{E9FE3584-C10E-42A8-BDB0-13088D10722E}"/>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Route capacity and the student pass share one service record.</a:t>
            </a:r>
          </a:p>
        </p:txBody>
      </p:sp>
      <p:sp>
        <p:nvSpPr>
          <p:cNvPr id="3" name="">
            <a:extLst xmlns:a="http://schemas.openxmlformats.org/drawingml/2006/main">
              <a:ext uri="{FF2B5EF4-FFF2-40B4-BE49-F238E27FC236}">
                <a16:creationId xmlns:a16="http://schemas.microsoft.com/office/drawing/2014/main" id="{93A0D047-0F6B-41D9-A037-EBDC0AAA0BE8}"/>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11</a:t>
            </a:r>
          </a:p>
        </p:txBody>
      </p:sp>
      <p:sp>
        <p:nvSpPr>
          <p:cNvPr id="4" name="">
            <a:extLst xmlns:a="http://schemas.openxmlformats.org/drawingml/2006/main">
              <a:ext uri="{FF2B5EF4-FFF2-40B4-BE49-F238E27FC236}">
                <a16:creationId xmlns:a16="http://schemas.microsoft.com/office/drawing/2014/main" id="{EE1C1D04-FA54-44B1-8AED-86CD00AF9D2B}"/>
              </a:ext>
            </a:extLst>
          </p:cNvPr>
          <p:cNvSpPr>
            <a:spLocks xmlns:a="http://schemas.openxmlformats.org/drawingml/2006/main" noGrp="1"/>
          </p:cNvSpPr>
          <p:nvPr/>
        </p:nvSpPr>
        <p:spPr>
          <a:xfrm xmlns:a="http://schemas.openxmlformats.org/drawingml/2006/main">
            <a:off x="533400" y="15240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87F78"/>
                </a:solidFill>
                <a:latin typeface="Arial"/>
                <a:ea typeface="Arial"/>
                <a:cs typeface="Arial"/>
              </a:defRPr>
            </a:pPr>
            <a:r>
              <a:rPr sz="1650" b="1">
                <a:solidFill>
                  <a:srgbClr val="087F78"/>
                </a:solidFill>
                <a:latin typeface="Arial"/>
                <a:ea typeface="Arial"/>
                <a:cs typeface="Arial"/>
              </a:rPr>
              <a:t>ADMIN: ROUTE AND PASSENGERS</a:t>
            </a:r>
          </a:p>
        </p:txBody>
      </p:sp>
      <p:sp>
        <p:nvSpPr>
          <p:cNvPr id="5" name="">
            <a:extLst xmlns:a="http://schemas.openxmlformats.org/drawingml/2006/main">
              <a:ext uri="{FF2B5EF4-FFF2-40B4-BE49-F238E27FC236}">
                <a16:creationId xmlns:a16="http://schemas.microsoft.com/office/drawing/2014/main" id="{1389C801-B520-4CB0-8F49-2648D3F40B9C}"/>
              </a:ext>
            </a:extLst>
          </p:cNvPr>
          <p:cNvSpPr>
            <a:spLocks xmlns:a="http://schemas.openxmlformats.org/drawingml/2006/main" noGrp="1"/>
          </p:cNvSpPr>
          <p:nvPr/>
        </p:nvSpPr>
        <p:spPr>
          <a:xfrm xmlns:a="http://schemas.openxmlformats.org/drawingml/2006/main">
            <a:off x="6286500" y="15240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087F78"/>
                </a:solidFill>
                <a:latin typeface="Arial"/>
                <a:ea typeface="Arial"/>
                <a:cs typeface="Arial"/>
              </a:defRPr>
            </a:pPr>
            <a:r>
              <a:rPr sz="1650" b="1">
                <a:solidFill>
                  <a:srgbClr val="087F78"/>
                </a:solidFill>
                <a:latin typeface="Arial"/>
                <a:ea typeface="Arial"/>
                <a:cs typeface="Arial"/>
              </a:rPr>
              <a:t>STUDENT: ROUTE AND PASS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55d239da0474666"/>
          <a:stretch xmlns:a="http://schemas.openxmlformats.org/drawingml/2006/main"/>
        </p:blipFill>
        <p:spPr>
          <a:xfrm xmlns:a="http://schemas.openxmlformats.org/drawingml/2006/main">
            <a:off x="533400" y="2170509"/>
            <a:ext cx="5410200" cy="3212306"/>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e2293c5c8849b6"/>
          <a:stretch xmlns:a="http://schemas.openxmlformats.org/drawingml/2006/main"/>
        </p:blipFill>
        <p:spPr>
          <a:xfrm xmlns:a="http://schemas.openxmlformats.org/drawingml/2006/main">
            <a:off x="6248400" y="2170509"/>
            <a:ext cx="5410200" cy="321230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B8E6FE8-8115-4ED2-B35E-902F206766F7}"/>
              </a:ext>
            </a:extLst>
          </p:cNvPr>
          <p:cNvSpPr>
            <a:spLocks xmlns:a="http://schemas.openxmlformats.org/drawingml/2006/main" noGrp="1"/>
          </p:cNvSpPr>
          <p:nvPr/>
        </p:nvSpPr>
        <p:spPr>
          <a:xfrm xmlns:a="http://schemas.openxmlformats.org/drawingml/2006/main">
            <a:off x="552450" y="59531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F78"/>
                </a:solidFill>
                <a:latin typeface="Arial"/>
                <a:ea typeface="Arial"/>
                <a:cs typeface="Arial"/>
              </a:defRPr>
            </a:pPr>
            <a:r>
              <a:rPr sz="1800" b="1">
                <a:solidFill>
                  <a:srgbClr val="087F78"/>
                </a:solidFill>
                <a:latin typeface="Arial"/>
                <a:ea typeface="Arial"/>
                <a:cs typeface="Arial"/>
              </a:rPr>
              <a:t>Route and stops  &gt;  Vehicle  &gt;  Allocation  &gt;  Pass and issue tracking</a:t>
            </a:r>
          </a:p>
        </p:txBody>
      </p:sp>
    </p:spTree>
    <p:extLst>
      <p:ext uri="{BB962C8B-B14F-4D97-AF65-F5344CB8AC3E}">
        <p14:creationId xmlns:p14="http://schemas.microsoft.com/office/powerpoint/2010/main" val="1372145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A855B1-C619-414C-B1FF-D96012B21DCB}"/>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Digital Certificate Operations</a:t>
            </a:r>
          </a:p>
        </p:txBody>
      </p:sp>
      <p:sp>
        <p:nvSpPr>
          <p:cNvPr id="2" name="">
            <a:extLst xmlns:a="http://schemas.openxmlformats.org/drawingml/2006/main">
              <a:ext uri="{FF2B5EF4-FFF2-40B4-BE49-F238E27FC236}">
                <a16:creationId xmlns:a16="http://schemas.microsoft.com/office/drawing/2014/main" id="{1B1EB2DC-8450-4B45-885D-0104AC181B6F}"/>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Requests become issued, downloadable and verifiable records.</a:t>
            </a:r>
          </a:p>
        </p:txBody>
      </p:sp>
      <p:sp>
        <p:nvSpPr>
          <p:cNvPr id="3" name="">
            <a:extLst xmlns:a="http://schemas.openxmlformats.org/drawingml/2006/main">
              <a:ext uri="{FF2B5EF4-FFF2-40B4-BE49-F238E27FC236}">
                <a16:creationId xmlns:a16="http://schemas.microsoft.com/office/drawing/2014/main" id="{06E79A90-AAC2-4193-8AD1-9D5A85A149E2}"/>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383820e2c084fb7"/>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4994B9-F770-4E25-BC20-DD30115C2935}"/>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Request  &gt;  Review  &gt;  Issue numbered PDF with QR  &gt;  Verify or revoke</a:t>
            </a:r>
          </a:p>
        </p:txBody>
      </p:sp>
    </p:spTree>
    <p:extLst>
      <p:ext uri="{BB962C8B-B14F-4D97-AF65-F5344CB8AC3E}">
        <p14:creationId xmlns:p14="http://schemas.microsoft.com/office/powerpoint/2010/main" val="20488092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8CDC21-BB65-4187-916A-F7C6712D20C4}"/>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Parent Account Registration</a:t>
            </a:r>
          </a:p>
        </p:txBody>
      </p:sp>
      <p:sp>
        <p:nvSpPr>
          <p:cNvPr id="2" name="">
            <a:extLst xmlns:a="http://schemas.openxmlformats.org/drawingml/2006/main">
              <a:ext uri="{FF2B5EF4-FFF2-40B4-BE49-F238E27FC236}">
                <a16:creationId xmlns:a16="http://schemas.microsoft.com/office/drawing/2014/main" id="{C065E7AB-0CA6-4930-8444-E0734DBD520E}"/>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University staff establish the relationship before granting access.</a:t>
            </a:r>
          </a:p>
        </p:txBody>
      </p:sp>
      <p:sp>
        <p:nvSpPr>
          <p:cNvPr id="3" name="">
            <a:extLst xmlns:a="http://schemas.openxmlformats.org/drawingml/2006/main">
              <a:ext uri="{FF2B5EF4-FFF2-40B4-BE49-F238E27FC236}">
                <a16:creationId xmlns:a16="http://schemas.microsoft.com/office/drawing/2014/main" id="{2A40D5B8-CF6F-40AD-898F-D70A36710510}"/>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13</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8e2b3290efb4622"/>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E9E2E29-5A72-481C-97DF-87385C3077F6}"/>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Parent user + profile + active student link are created together.</a:t>
            </a:r>
          </a:p>
        </p:txBody>
      </p:sp>
    </p:spTree>
    <p:extLst>
      <p:ext uri="{BB962C8B-B14F-4D97-AF65-F5344CB8AC3E}">
        <p14:creationId xmlns:p14="http://schemas.microsoft.com/office/powerpoint/2010/main" val="21339979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D7C006-9DED-4865-9448-44BAEA56763C}"/>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The Parent Portal</a:t>
            </a:r>
          </a:p>
        </p:txBody>
      </p:sp>
      <p:sp>
        <p:nvSpPr>
          <p:cNvPr id="2" name="">
            <a:extLst xmlns:a="http://schemas.openxmlformats.org/drawingml/2006/main">
              <a:ext uri="{FF2B5EF4-FFF2-40B4-BE49-F238E27FC236}">
                <a16:creationId xmlns:a16="http://schemas.microsoft.com/office/drawing/2014/main" id="{9803BA1C-D4B0-404C-BF69-0B7BA6B30C1D}"/>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Controlled visibility into linked-student academic and financial status.</a:t>
            </a:r>
          </a:p>
        </p:txBody>
      </p:sp>
      <p:sp>
        <p:nvSpPr>
          <p:cNvPr id="3" name="">
            <a:extLst xmlns:a="http://schemas.openxmlformats.org/drawingml/2006/main">
              <a:ext uri="{FF2B5EF4-FFF2-40B4-BE49-F238E27FC236}">
                <a16:creationId xmlns:a16="http://schemas.microsoft.com/office/drawing/2014/main" id="{7361FD42-9A79-4BCA-B7BB-46DCEFB62E7F}"/>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14</a:t>
            </a:r>
          </a:p>
        </p:txBody>
      </p:sp>
      <p:sp>
        <p:nvSpPr>
          <p:cNvPr id="4" name="">
            <a:extLst xmlns:a="http://schemas.openxmlformats.org/drawingml/2006/main">
              <a:ext uri="{FF2B5EF4-FFF2-40B4-BE49-F238E27FC236}">
                <a16:creationId xmlns:a16="http://schemas.microsoft.com/office/drawing/2014/main" id="{52EE7137-E49B-416D-912D-D92D7BBA3B13}"/>
              </a:ext>
            </a:extLst>
          </p:cNvPr>
          <p:cNvSpPr>
            <a:spLocks xmlns:a="http://schemas.openxmlformats.org/drawingml/2006/main" noGrp="1"/>
          </p:cNvSpPr>
          <p:nvPr/>
        </p:nvSpPr>
        <p:spPr>
          <a:xfrm xmlns:a="http://schemas.openxmlformats.org/drawingml/2006/main">
            <a:off x="571500" y="17145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Authorized relationship</a:t>
            </a:r>
          </a:p>
        </p:txBody>
      </p:sp>
      <p:sp>
        <p:nvSpPr>
          <p:cNvPr id="5" name="">
            <a:extLst xmlns:a="http://schemas.openxmlformats.org/drawingml/2006/main">
              <a:ext uri="{FF2B5EF4-FFF2-40B4-BE49-F238E27FC236}">
                <a16:creationId xmlns:a16="http://schemas.microsoft.com/office/drawing/2014/main" id="{B8FD41E7-4A8B-4AAE-9115-996F2C25CF34}"/>
              </a:ext>
            </a:extLst>
          </p:cNvPr>
          <p:cNvSpPr>
            <a:spLocks xmlns:a="http://schemas.openxmlformats.org/drawingml/2006/main" noGrp="1"/>
          </p:cNvSpPr>
          <p:nvPr/>
        </p:nvSpPr>
        <p:spPr>
          <a:xfrm xmlns:a="http://schemas.openxmlformats.org/drawingml/2006/main">
            <a:off x="3733800" y="17145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Staff register the account and establish the active student link.</a:t>
            </a:r>
          </a:p>
        </p:txBody>
      </p:sp>
      <p:sp>
        <p:nvSpPr>
          <p:cNvPr id="6" name="">
            <a:extLst xmlns:a="http://schemas.openxmlformats.org/drawingml/2006/main">
              <a:ext uri="{FF2B5EF4-FFF2-40B4-BE49-F238E27FC236}">
                <a16:creationId xmlns:a16="http://schemas.microsoft.com/office/drawing/2014/main" id="{1F6B47FB-05D5-4974-A664-667EA91D8B91}"/>
              </a:ext>
            </a:extLst>
          </p:cNvPr>
          <p:cNvSpPr>
            <a:spLocks xmlns:a="http://schemas.openxmlformats.org/drawingml/2006/main" noGrp="1"/>
          </p:cNvSpPr>
          <p:nvPr/>
        </p:nvSpPr>
        <p:spPr>
          <a:xfrm xmlns:a="http://schemas.openxmlformats.org/drawingml/2006/main">
            <a:off x="571500" y="27432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Linked-student selection</a:t>
            </a:r>
          </a:p>
        </p:txBody>
      </p:sp>
      <p:sp>
        <p:nvSpPr>
          <p:cNvPr id="7" name="">
            <a:extLst xmlns:a="http://schemas.openxmlformats.org/drawingml/2006/main">
              <a:ext uri="{FF2B5EF4-FFF2-40B4-BE49-F238E27FC236}">
                <a16:creationId xmlns:a16="http://schemas.microsoft.com/office/drawing/2014/main" id="{316BC26B-494C-4DCB-8533-F4AD5104D076}"/>
              </a:ext>
            </a:extLst>
          </p:cNvPr>
          <p:cNvSpPr>
            <a:spLocks xmlns:a="http://schemas.openxmlformats.org/drawingml/2006/main" noGrp="1"/>
          </p:cNvSpPr>
          <p:nvPr/>
        </p:nvSpPr>
        <p:spPr>
          <a:xfrm xmlns:a="http://schemas.openxmlformats.org/drawingml/2006/main">
            <a:off x="3733800" y="27432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Parents can switch only among students attached to their account.</a:t>
            </a:r>
          </a:p>
        </p:txBody>
      </p:sp>
      <p:sp>
        <p:nvSpPr>
          <p:cNvPr id="8" name="">
            <a:extLst xmlns:a="http://schemas.openxmlformats.org/drawingml/2006/main">
              <a:ext uri="{FF2B5EF4-FFF2-40B4-BE49-F238E27FC236}">
                <a16:creationId xmlns:a16="http://schemas.microsoft.com/office/drawing/2014/main" id="{53137B42-D83A-4293-ACEC-D5861BE2279B}"/>
              </a:ext>
            </a:extLst>
          </p:cNvPr>
          <p:cNvSpPr>
            <a:spLocks xmlns:a="http://schemas.openxmlformats.org/drawingml/2006/main" noGrp="1"/>
          </p:cNvSpPr>
          <p:nvPr/>
        </p:nvSpPr>
        <p:spPr>
          <a:xfrm xmlns:a="http://schemas.openxmlformats.org/drawingml/2006/main">
            <a:off x="571500" y="37719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Relevant visibility</a:t>
            </a:r>
          </a:p>
        </p:txBody>
      </p:sp>
      <p:sp>
        <p:nvSpPr>
          <p:cNvPr id="9" name="">
            <a:extLst xmlns:a="http://schemas.openxmlformats.org/drawingml/2006/main">
              <a:ext uri="{FF2B5EF4-FFF2-40B4-BE49-F238E27FC236}">
                <a16:creationId xmlns:a16="http://schemas.microsoft.com/office/drawing/2014/main" id="{FBFAD59F-2AE7-4CEC-8364-F4BD38620182}"/>
              </a:ext>
            </a:extLst>
          </p:cNvPr>
          <p:cNvSpPr>
            <a:spLocks xmlns:a="http://schemas.openxmlformats.org/drawingml/2006/main" noGrp="1"/>
          </p:cNvSpPr>
          <p:nvPr/>
        </p:nvSpPr>
        <p:spPr>
          <a:xfrm xmlns:a="http://schemas.openxmlformats.org/drawingml/2006/main">
            <a:off x="3733800" y="37719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Attendance, fee position, examination status and attention indicators.</a:t>
            </a:r>
          </a:p>
        </p:txBody>
      </p:sp>
      <p:sp>
        <p:nvSpPr>
          <p:cNvPr id="10" name="">
            <a:extLst xmlns:a="http://schemas.openxmlformats.org/drawingml/2006/main">
              <a:ext uri="{FF2B5EF4-FFF2-40B4-BE49-F238E27FC236}">
                <a16:creationId xmlns:a16="http://schemas.microsoft.com/office/drawing/2014/main" id="{23574AC4-E41E-494A-85CD-2CD36F3EE374}"/>
              </a:ext>
            </a:extLst>
          </p:cNvPr>
          <p:cNvSpPr>
            <a:spLocks xmlns:a="http://schemas.openxmlformats.org/drawingml/2006/main" noGrp="1"/>
          </p:cNvSpPr>
          <p:nvPr/>
        </p:nvSpPr>
        <p:spPr>
          <a:xfrm xmlns:a="http://schemas.openxmlformats.org/drawingml/2006/main">
            <a:off x="571500" y="48006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Session control</a:t>
            </a:r>
          </a:p>
        </p:txBody>
      </p:sp>
      <p:sp>
        <p:nvSpPr>
          <p:cNvPr id="11" name="">
            <a:extLst xmlns:a="http://schemas.openxmlformats.org/drawingml/2006/main">
              <a:ext uri="{FF2B5EF4-FFF2-40B4-BE49-F238E27FC236}">
                <a16:creationId xmlns:a16="http://schemas.microsoft.com/office/drawing/2014/main" id="{AB5C530E-B7FC-411A-97B4-2DAE22EAED07}"/>
              </a:ext>
            </a:extLst>
          </p:cNvPr>
          <p:cNvSpPr>
            <a:spLocks xmlns:a="http://schemas.openxmlformats.org/drawingml/2006/main" noGrp="1"/>
          </p:cNvSpPr>
          <p:nvPr/>
        </p:nvSpPr>
        <p:spPr>
          <a:xfrm xmlns:a="http://schemas.openxmlformats.org/drawingml/2006/main">
            <a:off x="3733800" y="48006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Refresh current data and sign out from the visible header control.</a:t>
            </a:r>
          </a:p>
        </p:txBody>
      </p:sp>
    </p:spTree>
    <p:extLst>
      <p:ext uri="{BB962C8B-B14F-4D97-AF65-F5344CB8AC3E}">
        <p14:creationId xmlns:p14="http://schemas.microsoft.com/office/powerpoint/2010/main" val="10614242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3F618B-1530-4656-9FA8-C6FC1F8CA8ED}"/>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Student AI Assistance</a:t>
            </a:r>
          </a:p>
        </p:txBody>
      </p:sp>
      <p:sp>
        <p:nvSpPr>
          <p:cNvPr id="2" name="">
            <a:extLst xmlns:a="http://schemas.openxmlformats.org/drawingml/2006/main">
              <a:ext uri="{FF2B5EF4-FFF2-40B4-BE49-F238E27FC236}">
                <a16:creationId xmlns:a16="http://schemas.microsoft.com/office/drawing/2014/main" id="{D253B766-F256-4893-902A-7D5C4F5B4ED4}"/>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Personal campus answers alongside general conversational help.</a:t>
            </a:r>
          </a:p>
        </p:txBody>
      </p:sp>
      <p:sp>
        <p:nvSpPr>
          <p:cNvPr id="3" name="">
            <a:extLst xmlns:a="http://schemas.openxmlformats.org/drawingml/2006/main">
              <a:ext uri="{FF2B5EF4-FFF2-40B4-BE49-F238E27FC236}">
                <a16:creationId xmlns:a16="http://schemas.microsoft.com/office/drawing/2014/main" id="{C5FDCCB2-39C3-42BD-9A5D-330D0E5F835A}"/>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bc1656f8fe248fb"/>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32E887-7F55-4077-83D8-A93312C60789}"/>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English/Hindi, follow-ups, voice input and spoken responses.</a:t>
            </a:r>
          </a:p>
        </p:txBody>
      </p:sp>
    </p:spTree>
    <p:extLst>
      <p:ext uri="{BB962C8B-B14F-4D97-AF65-F5344CB8AC3E}">
        <p14:creationId xmlns:p14="http://schemas.microsoft.com/office/powerpoint/2010/main" val="103540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B73852-68D4-467A-9DEA-0CCEC58183C1}"/>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Explainable Student Risk</a:t>
            </a:r>
          </a:p>
        </p:txBody>
      </p:sp>
      <p:sp>
        <p:nvSpPr>
          <p:cNvPr id="2" name="">
            <a:extLst xmlns:a="http://schemas.openxmlformats.org/drawingml/2006/main">
              <a:ext uri="{FF2B5EF4-FFF2-40B4-BE49-F238E27FC236}">
                <a16:creationId xmlns:a16="http://schemas.microsoft.com/office/drawing/2014/main" id="{5BDFFA9B-30BE-439D-B2DA-A446E93B1BA8}"/>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An actionable indicator built from available records.</a:t>
            </a:r>
          </a:p>
        </p:txBody>
      </p:sp>
      <p:sp>
        <p:nvSpPr>
          <p:cNvPr id="3" name="">
            <a:extLst xmlns:a="http://schemas.openxmlformats.org/drawingml/2006/main">
              <a:ext uri="{FF2B5EF4-FFF2-40B4-BE49-F238E27FC236}">
                <a16:creationId xmlns:a16="http://schemas.microsoft.com/office/drawing/2014/main" id="{BD4F8FF7-63D6-4582-AFEB-D159435A4E1C}"/>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f366c59deb14686"/>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BF87EA-A537-46B8-B248-3F64C31FE2DC}"/>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Rules-based score: attendance 40%, academics 30%, fees 15%, engagement 15%.</a:t>
            </a:r>
          </a:p>
        </p:txBody>
      </p:sp>
    </p:spTree>
    <p:extLst>
      <p:ext uri="{BB962C8B-B14F-4D97-AF65-F5344CB8AC3E}">
        <p14:creationId xmlns:p14="http://schemas.microsoft.com/office/powerpoint/2010/main" val="21279638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507A64-6893-4BE9-943D-C725ADE37B18}"/>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Early Warning and Intervention</a:t>
            </a:r>
          </a:p>
        </p:txBody>
      </p:sp>
      <p:sp>
        <p:nvSpPr>
          <p:cNvPr id="2" name="">
            <a:extLst xmlns:a="http://schemas.openxmlformats.org/drawingml/2006/main">
              <a:ext uri="{FF2B5EF4-FFF2-40B4-BE49-F238E27FC236}">
                <a16:creationId xmlns:a16="http://schemas.microsoft.com/office/drawing/2014/main" id="{55143380-1513-4A37-AD12-AB069571BF8A}"/>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Prediction signals have an operating response, not just a score.</a:t>
            </a:r>
          </a:p>
        </p:txBody>
      </p:sp>
      <p:sp>
        <p:nvSpPr>
          <p:cNvPr id="3" name="">
            <a:extLst xmlns:a="http://schemas.openxmlformats.org/drawingml/2006/main">
              <a:ext uri="{FF2B5EF4-FFF2-40B4-BE49-F238E27FC236}">
                <a16:creationId xmlns:a16="http://schemas.microsoft.com/office/drawing/2014/main" id="{C139507E-D830-42A4-A2B0-BB525C0542E8}"/>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275b989fe0475e"/>
          <a:stretch xmlns:a="http://schemas.openxmlformats.org/drawingml/2006/main"/>
        </p:blipFill>
        <p:spPr>
          <a:xfrm xmlns:a="http://schemas.openxmlformats.org/drawingml/2006/main">
            <a:off x="2229853" y="1438275"/>
            <a:ext cx="7732295"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0494A2-0BC1-471D-BFDD-BCC5512F228F}"/>
              </a:ext>
            </a:extLst>
          </p:cNvPr>
          <p:cNvSpPr>
            <a:spLocks xmlns:a="http://schemas.openxmlformats.org/drawingml/2006/main" noGrp="1"/>
          </p:cNvSpPr>
          <p:nvPr/>
        </p:nvSpPr>
        <p:spPr>
          <a:xfrm xmlns:a="http://schemas.openxmlformats.org/drawingml/2006/main">
            <a:off x="552450" y="61245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87F78"/>
                </a:solidFill>
                <a:latin typeface="Arial"/>
                <a:ea typeface="Arial"/>
                <a:cs typeface="Arial"/>
              </a:defRPr>
            </a:pPr>
            <a:r>
              <a:rPr sz="1575" b="1">
                <a:solidFill>
                  <a:srgbClr val="087F78"/>
                </a:solidFill>
                <a:latin typeface="Arial"/>
                <a:ea typeface="Arial"/>
                <a:cs typeface="Arial"/>
              </a:rPr>
              <a:t>Review a warning  &gt;  Assign support  &gt;  Track intervention  &gt;  Follow up</a:t>
            </a:r>
          </a:p>
        </p:txBody>
      </p:sp>
    </p:spTree>
    <p:extLst>
      <p:ext uri="{BB962C8B-B14F-4D97-AF65-F5344CB8AC3E}">
        <p14:creationId xmlns:p14="http://schemas.microsoft.com/office/powerpoint/2010/main" val="7011643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8EAA86-18B0-4FB5-AD05-D1E3A9F99226}"/>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Innovation in the Overall Solution</a:t>
            </a:r>
          </a:p>
        </p:txBody>
      </p:sp>
      <p:sp>
        <p:nvSpPr>
          <p:cNvPr id="2" name="">
            <a:extLst xmlns:a="http://schemas.openxmlformats.org/drawingml/2006/main">
              <a:ext uri="{FF2B5EF4-FFF2-40B4-BE49-F238E27FC236}">
                <a16:creationId xmlns:a16="http://schemas.microsoft.com/office/drawing/2014/main" id="{CE7BD1A7-5003-404C-A144-8BB1E10A9358}"/>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The contribution is connected operations, not another isolated chatbot.</a:t>
            </a:r>
          </a:p>
        </p:txBody>
      </p:sp>
      <p:sp>
        <p:nvSpPr>
          <p:cNvPr id="3" name="">
            <a:extLst xmlns:a="http://schemas.openxmlformats.org/drawingml/2006/main">
              <a:ext uri="{FF2B5EF4-FFF2-40B4-BE49-F238E27FC236}">
                <a16:creationId xmlns:a16="http://schemas.microsoft.com/office/drawing/2014/main" id="{A13BBADF-E9A1-4F70-B183-7E0F4FC965D7}"/>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18</a:t>
            </a:r>
          </a:p>
        </p:txBody>
      </p:sp>
      <p:sp>
        <p:nvSpPr>
          <p:cNvPr id="4" name="">
            <a:extLst xmlns:a="http://schemas.openxmlformats.org/drawingml/2006/main">
              <a:ext uri="{FF2B5EF4-FFF2-40B4-BE49-F238E27FC236}">
                <a16:creationId xmlns:a16="http://schemas.microsoft.com/office/drawing/2014/main" id="{1C8BA87F-24DF-46A5-9052-A73725A56E26}"/>
              </a:ext>
            </a:extLst>
          </p:cNvPr>
          <p:cNvSpPr>
            <a:spLocks xmlns:a="http://schemas.openxmlformats.org/drawingml/2006/main" noGrp="1"/>
          </p:cNvSpPr>
          <p:nvPr/>
        </p:nvSpPr>
        <p:spPr>
          <a:xfrm xmlns:a="http://schemas.openxmlformats.org/drawingml/2006/main">
            <a:off x="571500" y="171450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Connected identity</a:t>
            </a:r>
          </a:p>
        </p:txBody>
      </p:sp>
      <p:sp>
        <p:nvSpPr>
          <p:cNvPr id="5" name="">
            <a:extLst xmlns:a="http://schemas.openxmlformats.org/drawingml/2006/main">
              <a:ext uri="{FF2B5EF4-FFF2-40B4-BE49-F238E27FC236}">
                <a16:creationId xmlns:a16="http://schemas.microsoft.com/office/drawing/2014/main" id="{48802068-76D2-4709-B481-4513821B4FA2}"/>
              </a:ext>
            </a:extLst>
          </p:cNvPr>
          <p:cNvSpPr>
            <a:spLocks xmlns:a="http://schemas.openxmlformats.org/drawingml/2006/main" noGrp="1"/>
          </p:cNvSpPr>
          <p:nvPr/>
        </p:nvSpPr>
        <p:spPr>
          <a:xfrm xmlns:a="http://schemas.openxmlformats.org/drawingml/2006/main">
            <a:off x="3590925" y="1714500"/>
            <a:ext cx="8029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An administrative change becomes a named student record across services.</a:t>
            </a:r>
          </a:p>
        </p:txBody>
      </p:sp>
      <p:sp>
        <p:nvSpPr>
          <p:cNvPr id="6" name="">
            <a:extLst xmlns:a="http://schemas.openxmlformats.org/drawingml/2006/main">
              <a:ext uri="{FF2B5EF4-FFF2-40B4-BE49-F238E27FC236}">
                <a16:creationId xmlns:a16="http://schemas.microsoft.com/office/drawing/2014/main" id="{C2FE18C9-72D4-4C06-8393-7CC9CDA7141B}"/>
              </a:ext>
            </a:extLst>
          </p:cNvPr>
          <p:cNvSpPr>
            <a:spLocks xmlns:a="http://schemas.openxmlformats.org/drawingml/2006/main" noGrp="1"/>
          </p:cNvSpPr>
          <p:nvPr/>
        </p:nvSpPr>
        <p:spPr>
          <a:xfrm xmlns:a="http://schemas.openxmlformats.org/drawingml/2006/main">
            <a:off x="571500" y="2733675"/>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Grounded assistance</a:t>
            </a:r>
          </a:p>
        </p:txBody>
      </p:sp>
      <p:sp>
        <p:nvSpPr>
          <p:cNvPr id="7" name="">
            <a:extLst xmlns:a="http://schemas.openxmlformats.org/drawingml/2006/main">
              <a:ext uri="{FF2B5EF4-FFF2-40B4-BE49-F238E27FC236}">
                <a16:creationId xmlns:a16="http://schemas.microsoft.com/office/drawing/2014/main" id="{2EA9A813-E2B8-4D30-890C-0AFDB8C3F257}"/>
              </a:ext>
            </a:extLst>
          </p:cNvPr>
          <p:cNvSpPr>
            <a:spLocks xmlns:a="http://schemas.openxmlformats.org/drawingml/2006/main" noGrp="1"/>
          </p:cNvSpPr>
          <p:nvPr/>
        </p:nvSpPr>
        <p:spPr>
          <a:xfrm xmlns:a="http://schemas.openxmlformats.org/drawingml/2006/main">
            <a:off x="3590925" y="2733675"/>
            <a:ext cx="8029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Personal campus questions use authenticated data; general help uses Gemini.</a:t>
            </a:r>
          </a:p>
        </p:txBody>
      </p:sp>
      <p:sp>
        <p:nvSpPr>
          <p:cNvPr id="8" name="">
            <a:extLst xmlns:a="http://schemas.openxmlformats.org/drawingml/2006/main">
              <a:ext uri="{FF2B5EF4-FFF2-40B4-BE49-F238E27FC236}">
                <a16:creationId xmlns:a16="http://schemas.microsoft.com/office/drawing/2014/main" id="{5D20FAF0-1B1A-4EE0-8938-5379C99646C4}"/>
              </a:ext>
            </a:extLst>
          </p:cNvPr>
          <p:cNvSpPr>
            <a:spLocks xmlns:a="http://schemas.openxmlformats.org/drawingml/2006/main" noGrp="1"/>
          </p:cNvSpPr>
          <p:nvPr/>
        </p:nvSpPr>
        <p:spPr>
          <a:xfrm xmlns:a="http://schemas.openxmlformats.org/drawingml/2006/main">
            <a:off x="571500" y="37528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Explainable support</a:t>
            </a:r>
          </a:p>
        </p:txBody>
      </p:sp>
      <p:sp>
        <p:nvSpPr>
          <p:cNvPr id="9" name="">
            <a:extLst xmlns:a="http://schemas.openxmlformats.org/drawingml/2006/main">
              <a:ext uri="{FF2B5EF4-FFF2-40B4-BE49-F238E27FC236}">
                <a16:creationId xmlns:a16="http://schemas.microsoft.com/office/drawing/2014/main" id="{F24A0503-D2CD-407C-B026-7E7AEC99EA69}"/>
              </a:ext>
            </a:extLst>
          </p:cNvPr>
          <p:cNvSpPr>
            <a:spLocks xmlns:a="http://schemas.openxmlformats.org/drawingml/2006/main" noGrp="1"/>
          </p:cNvSpPr>
          <p:nvPr/>
        </p:nvSpPr>
        <p:spPr>
          <a:xfrm xmlns:a="http://schemas.openxmlformats.org/drawingml/2006/main">
            <a:off x="3590925" y="3752850"/>
            <a:ext cx="8029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Visible evidence and reasons lead to a staff-owned intervention.</a:t>
            </a:r>
          </a:p>
        </p:txBody>
      </p:sp>
      <p:sp>
        <p:nvSpPr>
          <p:cNvPr id="10" name="">
            <a:extLst xmlns:a="http://schemas.openxmlformats.org/drawingml/2006/main">
              <a:ext uri="{FF2B5EF4-FFF2-40B4-BE49-F238E27FC236}">
                <a16:creationId xmlns:a16="http://schemas.microsoft.com/office/drawing/2014/main" id="{D7505E44-605A-4B16-A40E-815FAF71A015}"/>
              </a:ext>
            </a:extLst>
          </p:cNvPr>
          <p:cNvSpPr>
            <a:spLocks xmlns:a="http://schemas.openxmlformats.org/drawingml/2006/main" noGrp="1"/>
          </p:cNvSpPr>
          <p:nvPr/>
        </p:nvSpPr>
        <p:spPr>
          <a:xfrm xmlns:a="http://schemas.openxmlformats.org/drawingml/2006/main">
            <a:off x="571500" y="4772025"/>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Controlled family access</a:t>
            </a:r>
          </a:p>
        </p:txBody>
      </p:sp>
      <p:sp>
        <p:nvSpPr>
          <p:cNvPr id="11" name="">
            <a:extLst xmlns:a="http://schemas.openxmlformats.org/drawingml/2006/main">
              <a:ext uri="{FF2B5EF4-FFF2-40B4-BE49-F238E27FC236}">
                <a16:creationId xmlns:a16="http://schemas.microsoft.com/office/drawing/2014/main" id="{42EC4916-9193-4495-A357-E5823C09D61C}"/>
              </a:ext>
            </a:extLst>
          </p:cNvPr>
          <p:cNvSpPr>
            <a:spLocks xmlns:a="http://schemas.openxmlformats.org/drawingml/2006/main" noGrp="1"/>
          </p:cNvSpPr>
          <p:nvPr/>
        </p:nvSpPr>
        <p:spPr>
          <a:xfrm xmlns:a="http://schemas.openxmlformats.org/drawingml/2006/main">
            <a:off x="3590925" y="4772025"/>
            <a:ext cx="8029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Explicit links give parents relevant visibility without unrestricted lookup.</a:t>
            </a:r>
          </a:p>
        </p:txBody>
      </p:sp>
    </p:spTree>
    <p:extLst>
      <p:ext uri="{BB962C8B-B14F-4D97-AF65-F5344CB8AC3E}">
        <p14:creationId xmlns:p14="http://schemas.microsoft.com/office/powerpoint/2010/main" val="8266654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A61508-0D67-4B0E-9B9E-D14027DF7A00}"/>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Technical Architecture</a:t>
            </a:r>
          </a:p>
        </p:txBody>
      </p:sp>
      <p:sp>
        <p:nvSpPr>
          <p:cNvPr id="2" name="">
            <a:extLst xmlns:a="http://schemas.openxmlformats.org/drawingml/2006/main">
              <a:ext uri="{FF2B5EF4-FFF2-40B4-BE49-F238E27FC236}">
                <a16:creationId xmlns:a16="http://schemas.microsoft.com/office/drawing/2014/main" id="{DBFCF1ED-9307-4D3B-8E37-61CDED44ED1A}"/>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A shared backend serves role-specific Flutter experiences.</a:t>
            </a:r>
          </a:p>
        </p:txBody>
      </p:sp>
      <p:sp>
        <p:nvSpPr>
          <p:cNvPr id="3" name="">
            <a:extLst xmlns:a="http://schemas.openxmlformats.org/drawingml/2006/main">
              <a:ext uri="{FF2B5EF4-FFF2-40B4-BE49-F238E27FC236}">
                <a16:creationId xmlns:a16="http://schemas.microsoft.com/office/drawing/2014/main" id="{0C9146C4-C42E-468E-8BDC-E4061F54E867}"/>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19</a:t>
            </a:r>
          </a:p>
        </p:txBody>
      </p:sp>
      <p:sp>
        <p:nvSpPr>
          <p:cNvPr id="4" name="">
            <a:extLst xmlns:a="http://schemas.openxmlformats.org/drawingml/2006/main">
              <a:ext uri="{FF2B5EF4-FFF2-40B4-BE49-F238E27FC236}">
                <a16:creationId xmlns:a16="http://schemas.microsoft.com/office/drawing/2014/main" id="{96B43A75-8C73-4904-8ED4-92A3A05BCAAF}"/>
              </a:ext>
            </a:extLst>
          </p:cNvPr>
          <p:cNvSpPr>
            <a:spLocks xmlns:a="http://schemas.openxmlformats.org/drawingml/2006/main" noGrp="1"/>
          </p:cNvSpPr>
          <p:nvPr/>
        </p:nvSpPr>
        <p:spPr>
          <a:xfrm xmlns:a="http://schemas.openxmlformats.org/drawingml/2006/main">
            <a:off x="571500" y="17145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Experience layer</a:t>
            </a:r>
          </a:p>
        </p:txBody>
      </p:sp>
      <p:sp>
        <p:nvSpPr>
          <p:cNvPr id="5" name="">
            <a:extLst xmlns:a="http://schemas.openxmlformats.org/drawingml/2006/main">
              <a:ext uri="{FF2B5EF4-FFF2-40B4-BE49-F238E27FC236}">
                <a16:creationId xmlns:a16="http://schemas.microsoft.com/office/drawing/2014/main" id="{9E7C9483-1916-4D0F-B5D7-745A03B9D0BC}"/>
              </a:ext>
            </a:extLst>
          </p:cNvPr>
          <p:cNvSpPr>
            <a:spLocks xmlns:a="http://schemas.openxmlformats.org/drawingml/2006/main" noGrp="1"/>
          </p:cNvSpPr>
          <p:nvPr/>
        </p:nvSpPr>
        <p:spPr>
          <a:xfrm xmlns:a="http://schemas.openxmlformats.org/drawingml/2006/main">
            <a:off x="3733800" y="17145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Flutter / Dart: admin, student and parent portals; Windows prototype.</a:t>
            </a:r>
          </a:p>
        </p:txBody>
      </p:sp>
      <p:sp>
        <p:nvSpPr>
          <p:cNvPr id="6" name="">
            <a:extLst xmlns:a="http://schemas.openxmlformats.org/drawingml/2006/main">
              <a:ext uri="{FF2B5EF4-FFF2-40B4-BE49-F238E27FC236}">
                <a16:creationId xmlns:a16="http://schemas.microsoft.com/office/drawing/2014/main" id="{749AFA58-6575-4237-82F3-C6FAF848F9C3}"/>
              </a:ext>
            </a:extLst>
          </p:cNvPr>
          <p:cNvSpPr>
            <a:spLocks xmlns:a="http://schemas.openxmlformats.org/drawingml/2006/main" noGrp="1"/>
          </p:cNvSpPr>
          <p:nvPr/>
        </p:nvSpPr>
        <p:spPr>
          <a:xfrm xmlns:a="http://schemas.openxmlformats.org/drawingml/2006/main">
            <a:off x="571500" y="27432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API and access</a:t>
            </a:r>
          </a:p>
        </p:txBody>
      </p:sp>
      <p:sp>
        <p:nvSpPr>
          <p:cNvPr id="7" name="">
            <a:extLst xmlns:a="http://schemas.openxmlformats.org/drawingml/2006/main">
              <a:ext uri="{FF2B5EF4-FFF2-40B4-BE49-F238E27FC236}">
                <a16:creationId xmlns:a16="http://schemas.microsoft.com/office/drawing/2014/main" id="{DDA8C46F-F24F-41B9-9A75-AF6BCB9072DF}"/>
              </a:ext>
            </a:extLst>
          </p:cNvPr>
          <p:cNvSpPr>
            <a:spLocks xmlns:a="http://schemas.openxmlformats.org/drawingml/2006/main" noGrp="1"/>
          </p:cNvSpPr>
          <p:nvPr/>
        </p:nvSpPr>
        <p:spPr>
          <a:xfrm xmlns:a="http://schemas.openxmlformats.org/drawingml/2006/main">
            <a:off x="3733800" y="27432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FastAPI + Pydantic; JWT authentication; backend role and ownership checks.</a:t>
            </a:r>
          </a:p>
        </p:txBody>
      </p:sp>
      <p:sp>
        <p:nvSpPr>
          <p:cNvPr id="8" name="">
            <a:extLst xmlns:a="http://schemas.openxmlformats.org/drawingml/2006/main">
              <a:ext uri="{FF2B5EF4-FFF2-40B4-BE49-F238E27FC236}">
                <a16:creationId xmlns:a16="http://schemas.microsoft.com/office/drawing/2014/main" id="{B028E484-C3D5-4F86-90EC-585F5C837E88}"/>
              </a:ext>
            </a:extLst>
          </p:cNvPr>
          <p:cNvSpPr>
            <a:spLocks xmlns:a="http://schemas.openxmlformats.org/drawingml/2006/main" noGrp="1"/>
          </p:cNvSpPr>
          <p:nvPr/>
        </p:nvSpPr>
        <p:spPr>
          <a:xfrm xmlns:a="http://schemas.openxmlformats.org/drawingml/2006/main">
            <a:off x="571500" y="37719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Records and workflows</a:t>
            </a:r>
          </a:p>
        </p:txBody>
      </p:sp>
      <p:sp>
        <p:nvSpPr>
          <p:cNvPr id="9" name="">
            <a:extLst xmlns:a="http://schemas.openxmlformats.org/drawingml/2006/main">
              <a:ext uri="{FF2B5EF4-FFF2-40B4-BE49-F238E27FC236}">
                <a16:creationId xmlns:a16="http://schemas.microsoft.com/office/drawing/2014/main" id="{270C706E-2953-4628-9664-16859A30EEB0}"/>
              </a:ext>
            </a:extLst>
          </p:cNvPr>
          <p:cNvSpPr>
            <a:spLocks xmlns:a="http://schemas.openxmlformats.org/drawingml/2006/main" noGrp="1"/>
          </p:cNvSpPr>
          <p:nvPr/>
        </p:nvSpPr>
        <p:spPr>
          <a:xfrm xmlns:a="http://schemas.openxmlformats.org/drawingml/2006/main">
            <a:off x="3733800" y="37719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SQLAlchemy models; local SQLite demo; PostgreSQL deployment configuration.</a:t>
            </a:r>
          </a:p>
        </p:txBody>
      </p:sp>
      <p:sp>
        <p:nvSpPr>
          <p:cNvPr id="10" name="">
            <a:extLst xmlns:a="http://schemas.openxmlformats.org/drawingml/2006/main">
              <a:ext uri="{FF2B5EF4-FFF2-40B4-BE49-F238E27FC236}">
                <a16:creationId xmlns:a16="http://schemas.microsoft.com/office/drawing/2014/main" id="{3BD76F3F-22DF-4197-B025-551DA076B0F4}"/>
              </a:ext>
            </a:extLst>
          </p:cNvPr>
          <p:cNvSpPr>
            <a:spLocks xmlns:a="http://schemas.openxmlformats.org/drawingml/2006/main" noGrp="1"/>
          </p:cNvSpPr>
          <p:nvPr/>
        </p:nvSpPr>
        <p:spPr>
          <a:xfrm xmlns:a="http://schemas.openxmlformats.org/drawingml/2006/main">
            <a:off x="571500" y="48006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Intelligence and output</a:t>
            </a:r>
          </a:p>
        </p:txBody>
      </p:sp>
      <p:sp>
        <p:nvSpPr>
          <p:cNvPr id="11" name="">
            <a:extLst xmlns:a="http://schemas.openxmlformats.org/drawingml/2006/main">
              <a:ext uri="{FF2B5EF4-FFF2-40B4-BE49-F238E27FC236}">
                <a16:creationId xmlns:a16="http://schemas.microsoft.com/office/drawing/2014/main" id="{35630C00-51E1-4DEF-AD31-01383B15FBF8}"/>
              </a:ext>
            </a:extLst>
          </p:cNvPr>
          <p:cNvSpPr>
            <a:spLocks xmlns:a="http://schemas.openxmlformats.org/drawingml/2006/main" noGrp="1"/>
          </p:cNvSpPr>
          <p:nvPr/>
        </p:nvSpPr>
        <p:spPr>
          <a:xfrm xmlns:a="http://schemas.openxmlformats.org/drawingml/2006/main">
            <a:off x="3733800" y="4800600"/>
            <a:ext cx="7886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Local record answers + campus knowledge + Gemini; rules-based risk; PDF/QR certificates.</a:t>
            </a:r>
          </a:p>
        </p:txBody>
      </p:sp>
    </p:spTree>
    <p:extLst>
      <p:ext uri="{BB962C8B-B14F-4D97-AF65-F5344CB8AC3E}">
        <p14:creationId xmlns:p14="http://schemas.microsoft.com/office/powerpoint/2010/main" val="5841388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3981FD-2A28-4EC3-B31A-DC36513BCB1F}"/>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Expected Impact and Pilot Measures</a:t>
            </a:r>
          </a:p>
        </p:txBody>
      </p:sp>
      <p:sp>
        <p:nvSpPr>
          <p:cNvPr id="2" name="">
            <a:extLst xmlns:a="http://schemas.openxmlformats.org/drawingml/2006/main">
              <a:ext uri="{FF2B5EF4-FFF2-40B4-BE49-F238E27FC236}">
                <a16:creationId xmlns:a16="http://schemas.microsoft.com/office/drawing/2014/main" id="{44691330-6EC7-45EF-BF5C-97EA1EC13765}"/>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Benefits are hypotheses to test, not fabricated achievement figures.</a:t>
            </a:r>
          </a:p>
        </p:txBody>
      </p:sp>
      <p:sp>
        <p:nvSpPr>
          <p:cNvPr id="3" name="">
            <a:extLst xmlns:a="http://schemas.openxmlformats.org/drawingml/2006/main">
              <a:ext uri="{FF2B5EF4-FFF2-40B4-BE49-F238E27FC236}">
                <a16:creationId xmlns:a16="http://schemas.microsoft.com/office/drawing/2014/main" id="{376D5A0A-FABB-4A89-8ED3-7AC3CBD56920}"/>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20</a:t>
            </a:r>
          </a:p>
        </p:txBody>
      </p:sp>
      <p:sp>
        <p:nvSpPr>
          <p:cNvPr id="4" name="">
            <a:extLst xmlns:a="http://schemas.openxmlformats.org/drawingml/2006/main">
              <a:ext uri="{FF2B5EF4-FFF2-40B4-BE49-F238E27FC236}">
                <a16:creationId xmlns:a16="http://schemas.microsoft.com/office/drawing/2014/main" id="{304338F6-0809-4D28-896E-E7339C652398}"/>
              </a:ext>
            </a:extLst>
          </p:cNvPr>
          <p:cNvSpPr>
            <a:spLocks xmlns:a="http://schemas.openxmlformats.org/drawingml/2006/main" noGrp="1"/>
          </p:cNvSpPr>
          <p:nvPr/>
        </p:nvSpPr>
        <p:spPr>
          <a:xfrm xmlns:a="http://schemas.openxmlformats.org/drawingml/2006/main">
            <a:off x="571500" y="17145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Student experience</a:t>
            </a:r>
          </a:p>
        </p:txBody>
      </p:sp>
      <p:sp>
        <p:nvSpPr>
          <p:cNvPr id="5" name="">
            <a:extLst xmlns:a="http://schemas.openxmlformats.org/drawingml/2006/main">
              <a:ext uri="{FF2B5EF4-FFF2-40B4-BE49-F238E27FC236}">
                <a16:creationId xmlns:a16="http://schemas.microsoft.com/office/drawing/2014/main" id="{BAEDC225-95F8-41AC-BEE4-F186C6FBEBAC}"/>
              </a:ext>
            </a:extLst>
          </p:cNvPr>
          <p:cNvSpPr>
            <a:spLocks xmlns:a="http://schemas.openxmlformats.org/drawingml/2006/main" noGrp="1"/>
          </p:cNvSpPr>
          <p:nvPr/>
        </p:nvSpPr>
        <p:spPr>
          <a:xfrm xmlns:a="http://schemas.openxmlformats.org/drawingml/2006/main">
            <a:off x="3638550" y="17145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Measure office visits per request, completion time and portal task success.</a:t>
            </a:r>
          </a:p>
        </p:txBody>
      </p:sp>
      <p:sp>
        <p:nvSpPr>
          <p:cNvPr id="6" name="">
            <a:extLst xmlns:a="http://schemas.openxmlformats.org/drawingml/2006/main">
              <a:ext uri="{FF2B5EF4-FFF2-40B4-BE49-F238E27FC236}">
                <a16:creationId xmlns:a16="http://schemas.microsoft.com/office/drawing/2014/main" id="{49705FD8-FADB-46F3-A6EB-57A992D23DDC}"/>
              </a:ext>
            </a:extLst>
          </p:cNvPr>
          <p:cNvSpPr>
            <a:spLocks xmlns:a="http://schemas.openxmlformats.org/drawingml/2006/main" noGrp="1"/>
          </p:cNvSpPr>
          <p:nvPr/>
        </p:nvSpPr>
        <p:spPr>
          <a:xfrm xmlns:a="http://schemas.openxmlformats.org/drawingml/2006/main">
            <a:off x="571500" y="27432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Governance</a:t>
            </a:r>
          </a:p>
        </p:txBody>
      </p:sp>
      <p:sp>
        <p:nvSpPr>
          <p:cNvPr id="7" name="">
            <a:extLst xmlns:a="http://schemas.openxmlformats.org/drawingml/2006/main">
              <a:ext uri="{FF2B5EF4-FFF2-40B4-BE49-F238E27FC236}">
                <a16:creationId xmlns:a16="http://schemas.microsoft.com/office/drawing/2014/main" id="{858692B6-78F2-4CF2-BE6D-85F5120C8804}"/>
              </a:ext>
            </a:extLst>
          </p:cNvPr>
          <p:cNvSpPr>
            <a:spLocks xmlns:a="http://schemas.openxmlformats.org/drawingml/2006/main" noGrp="1"/>
          </p:cNvSpPr>
          <p:nvPr/>
        </p:nvSpPr>
        <p:spPr>
          <a:xfrm xmlns:a="http://schemas.openxmlformats.org/drawingml/2006/main">
            <a:off x="3638550" y="27432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Measure unresolved cases, ownership gaps and record corrections.</a:t>
            </a:r>
          </a:p>
        </p:txBody>
      </p:sp>
      <p:sp>
        <p:nvSpPr>
          <p:cNvPr id="8" name="">
            <a:extLst xmlns:a="http://schemas.openxmlformats.org/drawingml/2006/main">
              <a:ext uri="{FF2B5EF4-FFF2-40B4-BE49-F238E27FC236}">
                <a16:creationId xmlns:a16="http://schemas.microsoft.com/office/drawing/2014/main" id="{A6DF5954-783A-45BB-934F-12C76A7A8D75}"/>
              </a:ext>
            </a:extLst>
          </p:cNvPr>
          <p:cNvSpPr>
            <a:spLocks xmlns:a="http://schemas.openxmlformats.org/drawingml/2006/main" noGrp="1"/>
          </p:cNvSpPr>
          <p:nvPr/>
        </p:nvSpPr>
        <p:spPr>
          <a:xfrm xmlns:a="http://schemas.openxmlformats.org/drawingml/2006/main">
            <a:off x="571500" y="37719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Transparency</a:t>
            </a:r>
          </a:p>
        </p:txBody>
      </p:sp>
      <p:sp>
        <p:nvSpPr>
          <p:cNvPr id="9" name="">
            <a:extLst xmlns:a="http://schemas.openxmlformats.org/drawingml/2006/main">
              <a:ext uri="{FF2B5EF4-FFF2-40B4-BE49-F238E27FC236}">
                <a16:creationId xmlns:a16="http://schemas.microsoft.com/office/drawing/2014/main" id="{15F9DD1D-438C-467D-8DB0-D4A278AEC2E9}"/>
              </a:ext>
            </a:extLst>
          </p:cNvPr>
          <p:cNvSpPr>
            <a:spLocks xmlns:a="http://schemas.openxmlformats.org/drawingml/2006/main" noGrp="1"/>
          </p:cNvSpPr>
          <p:nvPr/>
        </p:nvSpPr>
        <p:spPr>
          <a:xfrm xmlns:a="http://schemas.openxmlformats.org/drawingml/2006/main">
            <a:off x="3638550" y="37719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Measure status visibility, certificate turnaround and verification success.</a:t>
            </a:r>
          </a:p>
        </p:txBody>
      </p:sp>
      <p:sp>
        <p:nvSpPr>
          <p:cNvPr id="10" name="">
            <a:extLst xmlns:a="http://schemas.openxmlformats.org/drawingml/2006/main">
              <a:ext uri="{FF2B5EF4-FFF2-40B4-BE49-F238E27FC236}">
                <a16:creationId xmlns:a16="http://schemas.microsoft.com/office/drawing/2014/main" id="{06AF8665-B089-4D58-987F-9941ED899866}"/>
              </a:ext>
            </a:extLst>
          </p:cNvPr>
          <p:cNvSpPr>
            <a:spLocks xmlns:a="http://schemas.openxmlformats.org/drawingml/2006/main" noGrp="1"/>
          </p:cNvSpPr>
          <p:nvPr/>
        </p:nvSpPr>
        <p:spPr>
          <a:xfrm xmlns:a="http://schemas.openxmlformats.org/drawingml/2006/main">
            <a:off x="571500" y="48006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Student support</a:t>
            </a:r>
          </a:p>
        </p:txBody>
      </p:sp>
      <p:sp>
        <p:nvSpPr>
          <p:cNvPr id="11" name="">
            <a:extLst xmlns:a="http://schemas.openxmlformats.org/drawingml/2006/main">
              <a:ext uri="{FF2B5EF4-FFF2-40B4-BE49-F238E27FC236}">
                <a16:creationId xmlns:a16="http://schemas.microsoft.com/office/drawing/2014/main" id="{832AE6C9-1096-4EA8-87A0-DD89B9B5D8E5}"/>
              </a:ext>
            </a:extLst>
          </p:cNvPr>
          <p:cNvSpPr>
            <a:spLocks xmlns:a="http://schemas.openxmlformats.org/drawingml/2006/main" noGrp="1"/>
          </p:cNvSpPr>
          <p:nvPr/>
        </p:nvSpPr>
        <p:spPr>
          <a:xfrm xmlns:a="http://schemas.openxmlformats.org/drawingml/2006/main">
            <a:off x="3638550" y="4800600"/>
            <a:ext cx="7981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Measure alert usefulness, staff follow-up and intervention outcomes.</a:t>
            </a:r>
          </a:p>
        </p:txBody>
      </p:sp>
    </p:spTree>
    <p:extLst>
      <p:ext uri="{BB962C8B-B14F-4D97-AF65-F5344CB8AC3E}">
        <p14:creationId xmlns:p14="http://schemas.microsoft.com/office/powerpoint/2010/main" val="20387163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3ED27B-1CAC-4EE9-BDB8-F04A1E464A39}"/>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Current Readiness and Remaining Work</a:t>
            </a:r>
          </a:p>
        </p:txBody>
      </p:sp>
      <p:sp>
        <p:nvSpPr>
          <p:cNvPr id="2" name="">
            <a:extLst xmlns:a="http://schemas.openxmlformats.org/drawingml/2006/main">
              <a:ext uri="{FF2B5EF4-FFF2-40B4-BE49-F238E27FC236}">
                <a16:creationId xmlns:a16="http://schemas.microsoft.com/office/drawing/2014/main" id="{A107698E-BB7E-42AC-8DC0-5457F299E151}"/>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Working demonstration workflows are not the same as production readiness.</a:t>
            </a:r>
          </a:p>
        </p:txBody>
      </p:sp>
      <p:sp>
        <p:nvSpPr>
          <p:cNvPr id="3" name="">
            <a:extLst xmlns:a="http://schemas.openxmlformats.org/drawingml/2006/main">
              <a:ext uri="{FF2B5EF4-FFF2-40B4-BE49-F238E27FC236}">
                <a16:creationId xmlns:a16="http://schemas.microsoft.com/office/drawing/2014/main" id="{05B61EBC-A435-49F7-A1BE-362A4020C230}"/>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21</a:t>
            </a:r>
          </a:p>
        </p:txBody>
      </p:sp>
      <p:sp>
        <p:nvSpPr>
          <p:cNvPr id="4" name="">
            <a:extLst xmlns:a="http://schemas.openxmlformats.org/drawingml/2006/main">
              <a:ext uri="{FF2B5EF4-FFF2-40B4-BE49-F238E27FC236}">
                <a16:creationId xmlns:a16="http://schemas.microsoft.com/office/drawing/2014/main" id="{A4F3F9ED-2D38-40F9-86B7-AF706EF7CFB2}"/>
              </a:ext>
            </a:extLst>
          </p:cNvPr>
          <p:cNvSpPr>
            <a:spLocks xmlns:a="http://schemas.openxmlformats.org/drawingml/2006/main" noGrp="1"/>
          </p:cNvSpPr>
          <p:nvPr/>
        </p:nvSpPr>
        <p:spPr>
          <a:xfrm xmlns:a="http://schemas.openxmlformats.org/drawingml/2006/main">
            <a:off x="571500" y="168592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F78"/>
                </a:solidFill>
                <a:latin typeface="Arial"/>
                <a:ea typeface="Arial"/>
                <a:cs typeface="Arial"/>
              </a:defRPr>
            </a:pPr>
            <a:r>
              <a:rPr sz="1950" b="1">
                <a:solidFill>
                  <a:srgbClr val="087F78"/>
                </a:solidFill>
                <a:latin typeface="Arial"/>
                <a:ea typeface="Arial"/>
                <a:cs typeface="Arial"/>
              </a:rPr>
              <a:t>AVAILABLE IN THE PROTOTYPE</a:t>
            </a:r>
          </a:p>
        </p:txBody>
      </p:sp>
      <p:sp>
        <p:nvSpPr>
          <p:cNvPr id="5" name="">
            <a:extLst xmlns:a="http://schemas.openxmlformats.org/drawingml/2006/main">
              <a:ext uri="{FF2B5EF4-FFF2-40B4-BE49-F238E27FC236}">
                <a16:creationId xmlns:a16="http://schemas.microsoft.com/office/drawing/2014/main" id="{1B3D87C9-A8C9-463E-AEE3-ED3FDB561D88}"/>
              </a:ext>
            </a:extLst>
          </p:cNvPr>
          <p:cNvSpPr>
            <a:spLocks xmlns:a="http://schemas.openxmlformats.org/drawingml/2006/main" noGrp="1"/>
          </p:cNvSpPr>
          <p:nvPr/>
        </p:nvSpPr>
        <p:spPr>
          <a:xfrm xmlns:a="http://schemas.openxmlformats.org/drawingml/2006/main">
            <a:off x="571500" y="2286000"/>
            <a:ext cx="5286375"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Role portals and linked-parent access</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Academic plans, attendance and exams</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Hostel and transport allocations</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Certificate requests and issuance</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AI assistance, warnings and interventions</a:t>
            </a:r>
          </a:p>
        </p:txBody>
      </p:sp>
      <p:sp>
        <p:nvSpPr>
          <p:cNvPr id="6" name="">
            <a:extLst xmlns:a="http://schemas.openxmlformats.org/drawingml/2006/main">
              <a:ext uri="{FF2B5EF4-FFF2-40B4-BE49-F238E27FC236}">
                <a16:creationId xmlns:a16="http://schemas.microsoft.com/office/drawing/2014/main" id="{1430B15F-1E0A-4134-B12E-CEEF6902F31F}"/>
              </a:ext>
            </a:extLst>
          </p:cNvPr>
          <p:cNvSpPr>
            <a:spLocks xmlns:a="http://schemas.openxmlformats.org/drawingml/2006/main" noGrp="1"/>
          </p:cNvSpPr>
          <p:nvPr/>
        </p:nvSpPr>
        <p:spPr>
          <a:xfrm xmlns:a="http://schemas.openxmlformats.org/drawingml/2006/main">
            <a:off x="6400800" y="168592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F523E"/>
                </a:solidFill>
                <a:latin typeface="Arial"/>
                <a:ea typeface="Arial"/>
                <a:cs typeface="Arial"/>
              </a:defRPr>
            </a:pPr>
            <a:r>
              <a:rPr sz="1950" b="1">
                <a:solidFill>
                  <a:srgbClr val="BF523E"/>
                </a:solidFill>
                <a:latin typeface="Arial"/>
                <a:ea typeface="Arial"/>
                <a:cs typeface="Arial"/>
              </a:rPr>
              <a:t>BEFORE AN INSTITUTIONAL PILOT</a:t>
            </a:r>
          </a:p>
        </p:txBody>
      </p:sp>
      <p:sp>
        <p:nvSpPr>
          <p:cNvPr id="7" name="">
            <a:extLst xmlns:a="http://schemas.openxmlformats.org/drawingml/2006/main">
              <a:ext uri="{FF2B5EF4-FFF2-40B4-BE49-F238E27FC236}">
                <a16:creationId xmlns:a16="http://schemas.microsoft.com/office/drawing/2014/main" id="{866481BD-5B57-4DC9-A0D2-2FA71EAD4163}"/>
              </a:ext>
            </a:extLst>
          </p:cNvPr>
          <p:cNvSpPr>
            <a:spLocks xmlns:a="http://schemas.openxmlformats.org/drawingml/2006/main" noGrp="1"/>
          </p:cNvSpPr>
          <p:nvPr/>
        </p:nvSpPr>
        <p:spPr>
          <a:xfrm xmlns:a="http://schemas.openxmlformats.org/drawingml/2006/main">
            <a:off x="6400800" y="2286000"/>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Reconcile cross-view metric aggregation</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Privacy review and conversation redaction</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Payment gateway and credential delivery</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Complete unavailable admin workflows</a:t>
            </a:r>
          </a:p>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Security, backups and device acceptance</a:t>
            </a:r>
          </a:p>
        </p:txBody>
      </p:sp>
      <p:sp>
        <p:nvSpPr>
          <p:cNvPr id="8" name="">
            <a:extLst xmlns:a="http://schemas.openxmlformats.org/drawingml/2006/main">
              <a:ext uri="{FF2B5EF4-FFF2-40B4-BE49-F238E27FC236}">
                <a16:creationId xmlns:a16="http://schemas.microsoft.com/office/drawing/2014/main" id="{BB1E90B1-E136-45B6-8CEB-DDCA474D92E3}"/>
              </a:ext>
            </a:extLst>
          </p:cNvPr>
          <p:cNvSpPr>
            <a:spLocks xmlns:a="http://schemas.openxmlformats.org/drawingml/2006/main" noGrp="1"/>
          </p:cNvSpPr>
          <p:nvPr/>
        </p:nvSpPr>
        <p:spPr>
          <a:xfrm xmlns:a="http://schemas.openxmlformats.org/drawingml/2006/main">
            <a:off x="571500" y="54768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56475"/>
                </a:solidFill>
                <a:latin typeface="Arial"/>
                <a:ea typeface="Arial"/>
                <a:cs typeface="Arial"/>
              </a:defRPr>
            </a:pPr>
            <a:r>
              <a:rPr sz="1875" b="0">
                <a:solidFill>
                  <a:srgbClr val="556475"/>
                </a:solidFill>
                <a:latin typeface="Arial"/>
                <a:ea typeface="Arial"/>
                <a:cs typeface="Arial"/>
              </a:rPr>
              <a:t>Demo curricula are sample data. Predictive risk is a rules-based indicator.</a:t>
            </a:r>
          </a:p>
        </p:txBody>
      </p:sp>
    </p:spTree>
    <p:extLst>
      <p:ext uri="{BB962C8B-B14F-4D97-AF65-F5344CB8AC3E}">
        <p14:creationId xmlns:p14="http://schemas.microsoft.com/office/powerpoint/2010/main" val="4303043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94B771-4D00-405B-970B-59418DC5C986}"/>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Evaluator Demonstration Sequence</a:t>
            </a:r>
          </a:p>
        </p:txBody>
      </p:sp>
      <p:sp>
        <p:nvSpPr>
          <p:cNvPr id="2" name="">
            <a:extLst xmlns:a="http://schemas.openxmlformats.org/drawingml/2006/main">
              <a:ext uri="{FF2B5EF4-FFF2-40B4-BE49-F238E27FC236}">
                <a16:creationId xmlns:a16="http://schemas.microsoft.com/office/drawing/2014/main" id="{A24C34E1-4997-4861-9EBB-D107194D256E}"/>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A focused route through the working application.</a:t>
            </a:r>
          </a:p>
        </p:txBody>
      </p:sp>
      <p:sp>
        <p:nvSpPr>
          <p:cNvPr id="3" name="">
            <a:extLst xmlns:a="http://schemas.openxmlformats.org/drawingml/2006/main">
              <a:ext uri="{FF2B5EF4-FFF2-40B4-BE49-F238E27FC236}">
                <a16:creationId xmlns:a16="http://schemas.microsoft.com/office/drawing/2014/main" id="{C6DCA10F-31AB-4538-B547-53903A4F9B32}"/>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22</a:t>
            </a:r>
          </a:p>
        </p:txBody>
      </p:sp>
      <p:sp>
        <p:nvSpPr>
          <p:cNvPr id="4" name="">
            <a:extLst xmlns:a="http://schemas.openxmlformats.org/drawingml/2006/main">
              <a:ext uri="{FF2B5EF4-FFF2-40B4-BE49-F238E27FC236}">
                <a16:creationId xmlns:a16="http://schemas.microsoft.com/office/drawing/2014/main" id="{BE3CD90A-2E64-4EF5-9818-8DBBCF172696}"/>
              </a:ext>
            </a:extLst>
          </p:cNvPr>
          <p:cNvSpPr>
            <a:spLocks xmlns:a="http://schemas.openxmlformats.org/drawingml/2006/main" noGrp="1"/>
          </p:cNvSpPr>
          <p:nvPr/>
        </p:nvSpPr>
        <p:spPr>
          <a:xfrm xmlns:a="http://schemas.openxmlformats.org/drawingml/2006/main">
            <a:off x="571500" y="17145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01  Admin</a:t>
            </a:r>
          </a:p>
        </p:txBody>
      </p:sp>
      <p:sp>
        <p:nvSpPr>
          <p:cNvPr id="5" name="">
            <a:extLst xmlns:a="http://schemas.openxmlformats.org/drawingml/2006/main">
              <a:ext uri="{FF2B5EF4-FFF2-40B4-BE49-F238E27FC236}">
                <a16:creationId xmlns:a16="http://schemas.microsoft.com/office/drawing/2014/main" id="{175FDF4B-4C65-4EBF-A667-AE715032B7F1}"/>
              </a:ext>
            </a:extLst>
          </p:cNvPr>
          <p:cNvSpPr>
            <a:spLocks xmlns:a="http://schemas.openxmlformats.org/drawingml/2006/main" noGrp="1"/>
          </p:cNvSpPr>
          <p:nvPr/>
        </p:nvSpPr>
        <p:spPr>
          <a:xfrm xmlns:a="http://schemas.openxmlformats.org/drawingml/2006/main">
            <a:off x="3162300" y="1714500"/>
            <a:ext cx="8458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Open dashboard; select Raj in Academic Planning; show attendance and exams.</a:t>
            </a:r>
          </a:p>
        </p:txBody>
      </p:sp>
      <p:sp>
        <p:nvSpPr>
          <p:cNvPr id="6" name="">
            <a:extLst xmlns:a="http://schemas.openxmlformats.org/drawingml/2006/main">
              <a:ext uri="{FF2B5EF4-FFF2-40B4-BE49-F238E27FC236}">
                <a16:creationId xmlns:a16="http://schemas.microsoft.com/office/drawing/2014/main" id="{38EB65AC-9E6E-4334-9184-DC9DAD8488FC}"/>
              </a:ext>
            </a:extLst>
          </p:cNvPr>
          <p:cNvSpPr>
            <a:spLocks xmlns:a="http://schemas.openxmlformats.org/drawingml/2006/main" noGrp="1"/>
          </p:cNvSpPr>
          <p:nvPr/>
        </p:nvSpPr>
        <p:spPr>
          <a:xfrm xmlns:a="http://schemas.openxmlformats.org/drawingml/2006/main">
            <a:off x="571500" y="27336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02  Services</a:t>
            </a:r>
          </a:p>
        </p:txBody>
      </p:sp>
      <p:sp>
        <p:nvSpPr>
          <p:cNvPr id="7" name="">
            <a:extLst xmlns:a="http://schemas.openxmlformats.org/drawingml/2006/main">
              <a:ext uri="{FF2B5EF4-FFF2-40B4-BE49-F238E27FC236}">
                <a16:creationId xmlns:a16="http://schemas.microsoft.com/office/drawing/2014/main" id="{C3CDF75A-0C52-4C95-A4E9-8E419523FE55}"/>
              </a:ext>
            </a:extLst>
          </p:cNvPr>
          <p:cNvSpPr>
            <a:spLocks xmlns:a="http://schemas.openxmlformats.org/drawingml/2006/main" noGrp="1"/>
          </p:cNvSpPr>
          <p:nvPr/>
        </p:nvSpPr>
        <p:spPr>
          <a:xfrm xmlns:a="http://schemas.openxmlformats.org/drawingml/2006/main">
            <a:off x="3162300" y="2733675"/>
            <a:ext cx="8458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Compare Raj's hostel and transport allocations with the student portal.</a:t>
            </a:r>
          </a:p>
        </p:txBody>
      </p:sp>
      <p:sp>
        <p:nvSpPr>
          <p:cNvPr id="8" name="">
            <a:extLst xmlns:a="http://schemas.openxmlformats.org/drawingml/2006/main">
              <a:ext uri="{FF2B5EF4-FFF2-40B4-BE49-F238E27FC236}">
                <a16:creationId xmlns:a16="http://schemas.microsoft.com/office/drawing/2014/main" id="{BCB10608-8570-4E62-9EA7-DFA405514775}"/>
              </a:ext>
            </a:extLst>
          </p:cNvPr>
          <p:cNvSpPr>
            <a:spLocks xmlns:a="http://schemas.openxmlformats.org/drawingml/2006/main" noGrp="1"/>
          </p:cNvSpPr>
          <p:nvPr/>
        </p:nvSpPr>
        <p:spPr>
          <a:xfrm xmlns:a="http://schemas.openxmlformats.org/drawingml/2006/main">
            <a:off x="571500" y="37528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03  Student AI</a:t>
            </a:r>
          </a:p>
        </p:txBody>
      </p:sp>
      <p:sp>
        <p:nvSpPr>
          <p:cNvPr id="9" name="">
            <a:extLst xmlns:a="http://schemas.openxmlformats.org/drawingml/2006/main">
              <a:ext uri="{FF2B5EF4-FFF2-40B4-BE49-F238E27FC236}">
                <a16:creationId xmlns:a16="http://schemas.microsoft.com/office/drawing/2014/main" id="{9297F50D-B335-4EB7-85E8-B9A3D7BE0396}"/>
              </a:ext>
            </a:extLst>
          </p:cNvPr>
          <p:cNvSpPr>
            <a:spLocks xmlns:a="http://schemas.openxmlformats.org/drawingml/2006/main" noGrp="1"/>
          </p:cNvSpPr>
          <p:nvPr/>
        </p:nvSpPr>
        <p:spPr>
          <a:xfrm xmlns:a="http://schemas.openxmlformats.org/drawingml/2006/main">
            <a:off x="3162300" y="3752850"/>
            <a:ext cx="8458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Ask about a personal record; then ask a general question in English or Hindi.</a:t>
            </a:r>
          </a:p>
        </p:txBody>
      </p:sp>
      <p:sp>
        <p:nvSpPr>
          <p:cNvPr id="10" name="">
            <a:extLst xmlns:a="http://schemas.openxmlformats.org/drawingml/2006/main">
              <a:ext uri="{FF2B5EF4-FFF2-40B4-BE49-F238E27FC236}">
                <a16:creationId xmlns:a16="http://schemas.microsoft.com/office/drawing/2014/main" id="{C6A25560-16C7-444D-BC54-E857D09DE253}"/>
              </a:ext>
            </a:extLst>
          </p:cNvPr>
          <p:cNvSpPr>
            <a:spLocks xmlns:a="http://schemas.openxmlformats.org/drawingml/2006/main" noGrp="1"/>
          </p:cNvSpPr>
          <p:nvPr/>
        </p:nvSpPr>
        <p:spPr>
          <a:xfrm xmlns:a="http://schemas.openxmlformats.org/drawingml/2006/main">
            <a:off x="571500" y="47720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04  Governance</a:t>
            </a:r>
          </a:p>
        </p:txBody>
      </p:sp>
      <p:sp>
        <p:nvSpPr>
          <p:cNvPr id="11" name="">
            <a:extLst xmlns:a="http://schemas.openxmlformats.org/drawingml/2006/main">
              <a:ext uri="{FF2B5EF4-FFF2-40B4-BE49-F238E27FC236}">
                <a16:creationId xmlns:a16="http://schemas.microsoft.com/office/drawing/2014/main" id="{1FB9298A-9D86-4644-B223-22CDFBF8B483}"/>
              </a:ext>
            </a:extLst>
          </p:cNvPr>
          <p:cNvSpPr>
            <a:spLocks xmlns:a="http://schemas.openxmlformats.org/drawingml/2006/main" noGrp="1"/>
          </p:cNvSpPr>
          <p:nvPr/>
        </p:nvSpPr>
        <p:spPr>
          <a:xfrm xmlns:a="http://schemas.openxmlformats.org/drawingml/2006/main">
            <a:off x="3162300" y="4772025"/>
            <a:ext cx="8458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Show an issued certificate; linked-parent access; warning and intervention.</a:t>
            </a:r>
          </a:p>
        </p:txBody>
      </p:sp>
    </p:spTree>
    <p:extLst>
      <p:ext uri="{BB962C8B-B14F-4D97-AF65-F5344CB8AC3E}">
        <p14:creationId xmlns:p14="http://schemas.microsoft.com/office/powerpoint/2010/main" val="204678097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B6C305-9CA4-46F0-9794-7991A99E5771}"/>
              </a:ext>
            </a:extLst>
          </p:cNvPr>
          <p:cNvSpPr>
            <a:spLocks xmlns:a="http://schemas.openxmlformats.org/drawingml/2006/main" noGrp="1"/>
          </p:cNvSpPr>
          <p:nvPr/>
        </p:nvSpPr>
        <p:spPr>
          <a:xfrm xmlns:a="http://schemas.openxmlformats.org/drawingml/2006/main">
            <a:off x="533400" y="3238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233B"/>
                </a:solidFill>
                <a:latin typeface="Arial"/>
                <a:ea typeface="Arial"/>
                <a:cs typeface="Arial"/>
              </a:defRPr>
            </a:pPr>
            <a:r>
              <a:rPr sz="3300" b="1">
                <a:solidFill>
                  <a:srgbClr val="17233B"/>
                </a:solidFill>
                <a:latin typeface="Arial"/>
                <a:ea typeface="Arial"/>
                <a:cs typeface="Arial"/>
              </a:rPr>
              <a:t>Evaluation Summary</a:t>
            </a:r>
          </a:p>
        </p:txBody>
      </p:sp>
      <p:sp>
        <p:nvSpPr>
          <p:cNvPr id="2" name="">
            <a:extLst xmlns:a="http://schemas.openxmlformats.org/drawingml/2006/main">
              <a:ext uri="{FF2B5EF4-FFF2-40B4-BE49-F238E27FC236}">
                <a16:creationId xmlns:a16="http://schemas.microsoft.com/office/drawing/2014/main" id="{27214E83-A1C6-4BF1-8A84-37C0D18C3BC0}"/>
              </a:ext>
            </a:extLst>
          </p:cNvPr>
          <p:cNvSpPr>
            <a:spLocks xmlns:a="http://schemas.openxmlformats.org/drawingml/2006/main" noGrp="1"/>
          </p:cNvSpPr>
          <p:nvPr/>
        </p:nvSpPr>
        <p:spPr>
          <a:xfrm xmlns:a="http://schemas.openxmlformats.org/drawingml/2006/main">
            <a:off x="552450" y="100965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56475"/>
                </a:solidFill>
                <a:latin typeface="Arial"/>
                <a:ea typeface="Arial"/>
                <a:cs typeface="Arial"/>
              </a:defRPr>
            </a:pPr>
            <a:r>
              <a:rPr sz="1725" b="0">
                <a:solidFill>
                  <a:srgbClr val="556475"/>
                </a:solidFill>
                <a:latin typeface="Arial"/>
                <a:ea typeface="Arial"/>
                <a:cs typeface="Arial"/>
              </a:rPr>
              <a:t>Evidence for concept, approach, innovation and the overall solution.</a:t>
            </a:r>
          </a:p>
        </p:txBody>
      </p:sp>
      <p:sp>
        <p:nvSpPr>
          <p:cNvPr id="3" name="">
            <a:extLst xmlns:a="http://schemas.openxmlformats.org/drawingml/2006/main">
              <a:ext uri="{FF2B5EF4-FFF2-40B4-BE49-F238E27FC236}">
                <a16:creationId xmlns:a16="http://schemas.microsoft.com/office/drawing/2014/main" id="{1FE92BCF-CA62-4A43-BDCC-69380EF91F9A}"/>
              </a:ext>
            </a:extLst>
          </p:cNvPr>
          <p:cNvSpPr>
            <a:spLocks xmlns:a="http://schemas.openxmlformats.org/drawingml/2006/main" noGrp="1"/>
          </p:cNvSpPr>
          <p:nvPr/>
        </p:nvSpPr>
        <p:spPr>
          <a:xfrm xmlns:a="http://schemas.openxmlformats.org/drawingml/2006/main">
            <a:off x="552450" y="6486525"/>
            <a:ext cx="1109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56475"/>
                </a:solidFill>
                <a:latin typeface="Arial"/>
                <a:ea typeface="Arial"/>
                <a:cs typeface="Arial"/>
              </a:defRPr>
            </a:pPr>
            <a:r>
              <a:rPr sz="1125" b="0">
                <a:solidFill>
                  <a:srgbClr val="556475"/>
                </a:solidFill>
                <a:latin typeface="Arial"/>
                <a:ea typeface="Arial"/>
                <a:cs typeface="Arial"/>
              </a:rPr>
              <a:t>UniSphere  |  Working prototype  |  23</a:t>
            </a:r>
          </a:p>
        </p:txBody>
      </p:sp>
      <p:sp>
        <p:nvSpPr>
          <p:cNvPr id="4" name="">
            <a:extLst xmlns:a="http://schemas.openxmlformats.org/drawingml/2006/main">
              <a:ext uri="{FF2B5EF4-FFF2-40B4-BE49-F238E27FC236}">
                <a16:creationId xmlns:a16="http://schemas.microsoft.com/office/drawing/2014/main" id="{B26538B3-E9C8-4863-B41A-FA9DADEDC26E}"/>
              </a:ext>
            </a:extLst>
          </p:cNvPr>
          <p:cNvSpPr>
            <a:spLocks xmlns:a="http://schemas.openxmlformats.org/drawingml/2006/main" noGrp="1"/>
          </p:cNvSpPr>
          <p:nvPr/>
        </p:nvSpPr>
        <p:spPr>
          <a:xfrm xmlns:a="http://schemas.openxmlformats.org/drawingml/2006/main">
            <a:off x="571500" y="171450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Concept</a:t>
            </a:r>
          </a:p>
        </p:txBody>
      </p:sp>
      <p:sp>
        <p:nvSpPr>
          <p:cNvPr id="5" name="">
            <a:extLst xmlns:a="http://schemas.openxmlformats.org/drawingml/2006/main">
              <a:ext uri="{FF2B5EF4-FFF2-40B4-BE49-F238E27FC236}">
                <a16:creationId xmlns:a16="http://schemas.microsoft.com/office/drawing/2014/main" id="{58C6FA4D-FD42-4484-8FEA-34C81AAB4A9C}"/>
              </a:ext>
            </a:extLst>
          </p:cNvPr>
          <p:cNvSpPr>
            <a:spLocks xmlns:a="http://schemas.openxmlformats.org/drawingml/2006/main" noGrp="1"/>
          </p:cNvSpPr>
          <p:nvPr/>
        </p:nvSpPr>
        <p:spPr>
          <a:xfrm xmlns:a="http://schemas.openxmlformats.org/drawingml/2006/main">
            <a:off x="3257550" y="1714500"/>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One digital campus replaces fragmented student-facing office workflows.</a:t>
            </a:r>
          </a:p>
        </p:txBody>
      </p:sp>
      <p:sp>
        <p:nvSpPr>
          <p:cNvPr id="6" name="">
            <a:extLst xmlns:a="http://schemas.openxmlformats.org/drawingml/2006/main">
              <a:ext uri="{FF2B5EF4-FFF2-40B4-BE49-F238E27FC236}">
                <a16:creationId xmlns:a16="http://schemas.microsoft.com/office/drawing/2014/main" id="{9BBB95BA-1AE9-4334-8EDC-4285B3F05AD4}"/>
              </a:ext>
            </a:extLst>
          </p:cNvPr>
          <p:cNvSpPr>
            <a:spLocks xmlns:a="http://schemas.openxmlformats.org/drawingml/2006/main" noGrp="1"/>
          </p:cNvSpPr>
          <p:nvPr/>
        </p:nvSpPr>
        <p:spPr>
          <a:xfrm xmlns:a="http://schemas.openxmlformats.org/drawingml/2006/main">
            <a:off x="571500" y="274320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Approach</a:t>
            </a:r>
          </a:p>
        </p:txBody>
      </p:sp>
      <p:sp>
        <p:nvSpPr>
          <p:cNvPr id="7" name="">
            <a:extLst xmlns:a="http://schemas.openxmlformats.org/drawingml/2006/main">
              <a:ext uri="{FF2B5EF4-FFF2-40B4-BE49-F238E27FC236}">
                <a16:creationId xmlns:a16="http://schemas.microsoft.com/office/drawing/2014/main" id="{F28FDE3F-5F35-4749-8007-C711C21FCEC0}"/>
              </a:ext>
            </a:extLst>
          </p:cNvPr>
          <p:cNvSpPr>
            <a:spLocks xmlns:a="http://schemas.openxmlformats.org/drawingml/2006/main" noGrp="1"/>
          </p:cNvSpPr>
          <p:nvPr/>
        </p:nvSpPr>
        <p:spPr>
          <a:xfrm xmlns:a="http://schemas.openxmlformats.org/drawingml/2006/main">
            <a:off x="3257550" y="2743200"/>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Staff-owned records, shared APIs, explicit permissions and linked identities.</a:t>
            </a:r>
          </a:p>
        </p:txBody>
      </p:sp>
      <p:sp>
        <p:nvSpPr>
          <p:cNvPr id="8" name="">
            <a:extLst xmlns:a="http://schemas.openxmlformats.org/drawingml/2006/main">
              <a:ext uri="{FF2B5EF4-FFF2-40B4-BE49-F238E27FC236}">
                <a16:creationId xmlns:a16="http://schemas.microsoft.com/office/drawing/2014/main" id="{D117C9E2-F8C1-4D85-91C8-032335B235EC}"/>
              </a:ext>
            </a:extLst>
          </p:cNvPr>
          <p:cNvSpPr>
            <a:spLocks xmlns:a="http://schemas.openxmlformats.org/drawingml/2006/main" noGrp="1"/>
          </p:cNvSpPr>
          <p:nvPr/>
        </p:nvSpPr>
        <p:spPr>
          <a:xfrm xmlns:a="http://schemas.openxmlformats.org/drawingml/2006/main">
            <a:off x="571500" y="377190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Innovation</a:t>
            </a:r>
          </a:p>
        </p:txBody>
      </p:sp>
      <p:sp>
        <p:nvSpPr>
          <p:cNvPr id="9" name="">
            <a:extLst xmlns:a="http://schemas.openxmlformats.org/drawingml/2006/main">
              <a:ext uri="{FF2B5EF4-FFF2-40B4-BE49-F238E27FC236}">
                <a16:creationId xmlns:a16="http://schemas.microsoft.com/office/drawing/2014/main" id="{47D39A0A-0B9C-43A8-8EC4-030BEBEA01A2}"/>
              </a:ext>
            </a:extLst>
          </p:cNvPr>
          <p:cNvSpPr>
            <a:spLocks xmlns:a="http://schemas.openxmlformats.org/drawingml/2006/main" noGrp="1"/>
          </p:cNvSpPr>
          <p:nvPr/>
        </p:nvSpPr>
        <p:spPr>
          <a:xfrm xmlns:a="http://schemas.openxmlformats.org/drawingml/2006/main">
            <a:off x="3257550" y="3771900"/>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Grounded assistance plus explainable support inside operational workflows.</a:t>
            </a:r>
          </a:p>
        </p:txBody>
      </p:sp>
      <p:sp>
        <p:nvSpPr>
          <p:cNvPr id="10" name="">
            <a:extLst xmlns:a="http://schemas.openxmlformats.org/drawingml/2006/main">
              <a:ext uri="{FF2B5EF4-FFF2-40B4-BE49-F238E27FC236}">
                <a16:creationId xmlns:a16="http://schemas.microsoft.com/office/drawing/2014/main" id="{AF0B9F3B-08BB-42D5-9491-18180D346147}"/>
              </a:ext>
            </a:extLst>
          </p:cNvPr>
          <p:cNvSpPr>
            <a:spLocks xmlns:a="http://schemas.openxmlformats.org/drawingml/2006/main" noGrp="1"/>
          </p:cNvSpPr>
          <p:nvPr/>
        </p:nvSpPr>
        <p:spPr>
          <a:xfrm xmlns:a="http://schemas.openxmlformats.org/drawingml/2006/main">
            <a:off x="571500" y="480060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F78"/>
                </a:solidFill>
                <a:latin typeface="Arial"/>
                <a:ea typeface="Arial"/>
                <a:cs typeface="Arial"/>
              </a:defRPr>
            </a:pPr>
            <a:r>
              <a:rPr sz="2175" b="1">
                <a:solidFill>
                  <a:srgbClr val="087F78"/>
                </a:solidFill>
                <a:latin typeface="Arial"/>
                <a:ea typeface="Arial"/>
                <a:cs typeface="Arial"/>
              </a:rPr>
              <a:t>Overall solution</a:t>
            </a:r>
          </a:p>
        </p:txBody>
      </p:sp>
      <p:sp>
        <p:nvSpPr>
          <p:cNvPr id="11" name="">
            <a:extLst xmlns:a="http://schemas.openxmlformats.org/drawingml/2006/main">
              <a:ext uri="{FF2B5EF4-FFF2-40B4-BE49-F238E27FC236}">
                <a16:creationId xmlns:a16="http://schemas.microsoft.com/office/drawing/2014/main" id="{9EF251AC-AF2B-46C7-AE93-54430805A584}"/>
              </a:ext>
            </a:extLst>
          </p:cNvPr>
          <p:cNvSpPr>
            <a:spLocks xmlns:a="http://schemas.openxmlformats.org/drawingml/2006/main" noGrp="1"/>
          </p:cNvSpPr>
          <p:nvPr/>
        </p:nvSpPr>
        <p:spPr>
          <a:xfrm xmlns:a="http://schemas.openxmlformats.org/drawingml/2006/main">
            <a:off x="3257550" y="4800600"/>
            <a:ext cx="836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33B"/>
                </a:solidFill>
                <a:latin typeface="Arial"/>
                <a:ea typeface="Arial"/>
                <a:cs typeface="Arial"/>
              </a:defRPr>
            </a:pPr>
            <a:r>
              <a:rPr sz="1875" b="0">
                <a:solidFill>
                  <a:srgbClr val="17233B"/>
                </a:solidFill>
                <a:latin typeface="Arial"/>
                <a:ea typeface="Arial"/>
                <a:cs typeface="Arial"/>
              </a:rPr>
              <a:t>Three usable portals, connected service evidence and a transparent pilot roadmap.</a:t>
            </a:r>
          </a:p>
        </p:txBody>
      </p:sp>
    </p:spTree>
    <p:extLst>
      <p:ext uri="{BB962C8B-B14F-4D97-AF65-F5344CB8AC3E}">
        <p14:creationId xmlns:p14="http://schemas.microsoft.com/office/powerpoint/2010/main" val="480988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2026-10-01T15:03:41.6440000Z</dcterms:created>
  <dcterms:modified xsi:type="dcterms:W3CDTF">2026-10-01T15:03:41.6450000Z</dcterms:modified>
</coreProperties>
</file>